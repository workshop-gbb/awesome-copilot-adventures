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Token cost mix</c:v>
                </c:pt>
              </c:strCache>
            </c:strRef>
          </c:tx>
          <c:spPr>
            <a:solidFill>
              <a:schemeClr val="accent1"/>
            </a:solidFill>
            <a:ln w="9525" cap="flat">
              <a:solidFill>
                <a:srgbClr val="F9F9F9"/>
              </a:solidFill>
              <a:prstDash val="solid"/>
              <a:round/>
            </a:ln>
            <a:effectLst/>
          </c:spPr>
          <c:dPt>
            <c:idx val="0"/>
            <c:bubble3D val="0"/>
            <c:spPr>
              <a:solidFill>
                <a:srgbClr val="F25022"/>
              </a:solidFill>
              <a:effectLst/>
            </c:spPr>
          </c:dPt>
          <c:dPt>
            <c:idx val="1"/>
            <c:bubble3D val="0"/>
            <c:spPr>
              <a:solidFill>
                <a:srgbClr val="00A4EF"/>
              </a:solidFill>
              <a:effectLst/>
            </c:spPr>
          </c:dPt>
          <c:dPt>
            <c:idx val="2"/>
            <c:bubble3D val="0"/>
            <c:spPr>
              <a:solidFill>
                <a:srgbClr val="7FBA00"/>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Output</c:v>
                </c:pt>
                <c:pt idx="1">
                  <c:v>Input</c:v>
                </c:pt>
                <c:pt idx="2">
                  <c:v>Cached</c:v>
                </c:pt>
              </c:strCache>
            </c:strRef>
          </c:cat>
          <c:val>
            <c:numRef>
              <c:f>Sheet1!$B$2:$B$4</c:f>
              <c:numCache>
                <c:ptCount val="3"/>
                <c:pt idx="0">
                  <c:v>65</c:v>
                </c:pt>
                <c:pt idx="1">
                  <c:v>30</c:v>
                </c:pt>
                <c:pt idx="2">
                  <c:v>5</c:v>
                </c:pt>
              </c:numCache>
            </c:numRef>
          </c:val>
        </c:ser>
        <c:firstSliceAng val="0"/>
        <c:holeSize val="60"/>
      </c:doughnutChart>
      <c:spPr>
        <a:noFill/>
        <a:ln>
          <a:noFill/>
        </a:ln>
        <a:effectLst/>
      </c:spPr>
    </c:plotArea>
    <c:legend>
      <c:legendPos val="b"/>
      <c:overlay val="0"/>
      <c:txPr>
        <a:bodyPr/>
        <a:lstStyle/>
        <a:p>
          <a:pPr>
            <a:defRPr sz="900">
              <a:solidFill>
                <a:srgbClr val="5C5A52"/>
              </a:solidFill>
              <a:latin typeface="JetBrains Mono"/>
              <a:cs typeface="JetBrains Mon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Bom dia. Antes de começar, uma pergunta que vai enquadrar os próximos noventa minutos. Quantos de vocês olharam a fatura de GitHub Copilot do time nos últimos trinta dias? [pausa] Poucas mãos. Segurem isso.
[NÚCLEO]
Em quinze dias, primeiro de junho, a unidade de custo do GitHub Copilot muda. Não o preço, a unidade. Premium Request Units se aposentam. AI Credits assumem. Soa técnico, mas vou ser honesta: essa é a mudança mais consequente em billing de ferramenta de dev desde o lançamento do GitHub Copilot. Move o custo de intenção para trabalho, e isso muda o que o time de vocês está comprando todo dia, muitas vezes sem perceber.
Três coisas que vocês vão levar. Uma, por que essa mudança não é detalhe de billing, é mudança de visibilidade gerencial. Duas, a linguagem operacional para falar com o time sobre isso. Três, um plano de noventa dias que começa antes de primeiro de junho, porque clientes que começam em setembro estão seis semanas atrás.
[GANCHO PROVOCATIVO]
Uma promessa e um aviso. Promessa: no fim do dia, vocês vão saber ler um relatório Preview Your Usage e explicar para o CFO. Aviso: a maioria das salas que estive esse mês subestimou o gasto real em um fator de dois.
[TRANSIÇÃO, para slide 2, agenda]
Cinco partes, uma única moldura. É assim que vamos andar.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
Cinco partes. Cada uma ancorada a um único takeaway.
[NÚCLEO]
Parte Um: o fato. O que muda em primeiro de junho, e por que importa mais do que a data sugere. Parte Dois: fundamentos. O que um token é de fato, e onde o custo de fato mora. A maioria das salas erra isso, incluindo salas de engenharia. Parte Três: o custo real. Multiplicadores por modelo, a história da fatura do dev, e a janela promocional entre junho e setembro que a maioria dos times vai desperdiçar.
Parte Quatro: design de agentes. A única decisão de design que o time de vocês está tomando esse ano que dirige a maior variância de custo, e a maioria não sabe que está tomando. Parte Cinco: operação. O FinOps stack para cargas de AI e um roteiro de adoção de noventa dias.
Uma promessa sobre formato. Vou pausar para perguntas nos limites entre partes, não dentro das partes. Dentro de cada parte, o fluxo é apertado de propósito. Se algo não está claro, anotem, levantem no limite.
[GANCHO PROVOCATIVO]
Um pedido. Conforme a gente andar, escutem qual parte deixa vocês desconfortáveis. Essa parte é onde a organização de vocês tem trabalho a fazer. Não brigue com isso, marque.
[TRANSIÇÃO, para slide 3, divider Parte I]
Parte Um. O fato.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divider de seção]
Parte Um. O fato.
[NÚCLEO]
A gente começa pelo que não é discutível. Em primeiro de junho de 2026, o GitHub Copilot para de cobrar por request. A unidade de custo passa a ser o token. Quero que vocês segurem isso por um momento antes da gente entrar no porquê. [pausa]
Esse é o divider da Parte Um. Os próximos dois slides estabelecem o que está em jogo.
[TRANSIÇÃO, para slide 4, a data]
A data. E o que ela significa.
[TIMING] ~30 seg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3]
Primeiro de junho de 2026. Quinze dias.
[NÚCLEO]
O que acontece nesse dia. Premium Request Units se aposentam. GitHub AI Credits assumem. Um credit equivale a um centavo de dólar. Tokens de input, de output, de cache, cada um contabilizado na taxa de API publicada do modelo específico.
Um detalhe que importa para a conversa de contrato. Se vocês estão em plano anual assinado antes de primeiro de junho, vocês mantêm os termos antigos até a renovação, depois transicionam. Se estão em billing mensal, transicionam no dia. Vale conferir em qual o time está antes de sair daqui.
A unidade nova é simples. Um credit, um centavo. A matemática não esconde nada. A complexidade não está mais no modelo de billing. Está no custo do trabalho que vocês escolhem fazer.
[GANCHO PROVOCATIVO]
O que a data está realmente anunciando: a era de billing opaco de AI está acabando. Toda outra ferramenta de AI que o time usa está indo na mesma direção. GitHub Copilot é a primeira grande ferramenta de dev a se comprometer publicamente, com tabela de preços pública.
[TRANSIÇÃO, para slide 5, PRU vs AI Credits]
Agora esqueçam a data. Fiquem com a palavra custo. Porque o que muda de verdade é a definição.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4]
Esqueçam a data. Fiquem com uma palavra: custo. O que muda em primeiro de junho não é preço. É a definição daquilo pelo que vocês pagam. Esse é o slide mais importante da manhã.
[NÚCLEO]
Lado esquerdo. Premium Request Units. Uma pergunta de chat contava como uma request. Uma sessão agêntica de quatro horas refatorando cinquenta arquivos contava como uma request, com multiplicador, mas a mesma unidade. [pausa] Era ficção útil, porque deixava budgets previsíveis. O custo: ninguém na engenharia sabia o que de fato estava consumindo. Coisa barata e coisa cara usavam o mesmo nome na fatura.
Lado direito. AI Credits. A unidade mudou de intenção para trabalho. Input, output, cached, cada um na taxa da API do modelo. Um credit, um centavo.
O que está escondido: isso é uma mudança de visibilidade gerencial. Pela primeira vez, o líder de engenharia de vocês vê, na linha, quais tipos de trabalho são caros. Rodei Preview Your Usage em quatro clientes enterprise nos últimos dois meses. Sem exceção, a liderança ficou surpresa pelo lugar onde o custo de fato estava.
[GANCHO PROVOCATIVO]
Levem isso: quem no seu time está tomando uma decisão de budget toda vez que escolhe um modelo, sem saber? Todo dev é, silenciosamente, um comprador.
[TRANSIÇÃO, para Parte II]
Para responder, precisamos de linguagem compartilhada. O que é um token, onde o custo mora, o que é context engineering. Parte II.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divider de seção]
Parte Dois. Fundamentos.
[NÚCLEO]
Os três slides que vêm te dão a linguagem para operar no mundo novo. O que é um token. Onde o custo mora, por classe de token. E o que é context engineering, porque essa é a alavanca que o time de vocês vai puxar.
Se a audiência hoje é majoritariamente executiva, esses próximos três slides são onde vocês precisam desacelerar. Se é majoritariamente de engenharia, o terceiro (context engineering) é o que eles vão ter mais a levar pra casa.
[TRANSIÇÃO, para slide 7, o que é um token]
Um token não é uma palavra.
[TIMING] ~30 seg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6]
Um token não é uma palavra. Essa frase pega quase toda sala executiva que entro.
[NÚCLEO]
Um token é um fragmento de palavra. A palavra 'tokenization' em inglês são três tokens: token-iz-ation. O mesmo conceito em português, 'tokenização', pode ser quatro ou cinco. O mesmo em código, onde comentários tokenizam diferente da sintaxe.
Por que isso importa para a fatura. Cargas agênticas em português custam mais que as mesmas cargas em inglês, para o mesmo trabalho lógico. Código com nomes verbosos custa mais para ler que código com nomes curtos. O estilo de codificação do time agora tem consequência de budget. A maioria dos times nunca pensou nisso. Vão precisar pensar.
Três conceitos, rapidamente. Tokenização por subword, a unidade. Janela de contexto, o total de tokens que um modelo segura em uma chamada, volátil, reconstruída a cada turno. E tokens são cobrados, cada fragmento que entra, cada fragmento que sai, cada fragmento em cache.
[GANCHO PROVOCATIVO]
Para os engenheiros: a escolha de tokenizer do time, que era detalhe acadêmico, agora é linha de fatura. Para os executivos: a estratégia de localização, inglês primeiro ou local primeiro, agora tem custo direto em AI Credits.
[TRANSIÇÃO, para slide 8, três classes de token]
Três fragmentos, três taxas. E uma delas domina.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7]
Output domina. Esse é o título. Deixa eu mostrar por quê.
[NÚCLEO]
Olhem o donut à esquerda. Em uma sessão agêntica típica, o mix de custo fica assim: output sessenta e cinco por cento, input trinta, cached cinco. Os números variam por carga, mas a razão se mantém. Output tipicamente é três a cinco vezes a taxa de input. E em sessão agêntica longa, output também é maior em volume, porque o modelo está gerando código, gerando comentário, gerando raciocínio intermediário. Output domina duas vezes.
Três classes de token à direita. Input: tudo que é enviado ao modelo, system prompt, definições de tool, histórico, mensagem atual. Taxa base. Todo turno paga o contexto inteiro, não só a mensagem nova. Output: tudo que o modelo gera. Taxa premium. Cached: tokens cujo KV cache foi computado em chamada anterior e reutilizado. Tipicamente dez por cento da taxa de input. Essa é a oportunidade de otimização.
Se o time levar uma única otimização daqui, é essa: prompt caching é a maior alavanca de custo em cargas agênticas.
[GANCHO PROVOCATIVO]
A maior parte das discussões de custo foca em input, porque input é o óbvio que o dev digita. A maior parte da fatura está em outro lugar.
[TRANSIÇÃO, para slide 9, context engineering]
O que nos leva à disciplina que controla as três classes: context engineering.
[TIMING]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8]
Context engineering. A disciplina que separa times que pagam por valor de times que pagam por ruído.
[NÚCLEO]
Três disciplinas. Primeira, curadoria. Contexto mínimo, sinal máximo. A maioria dos times manda dez vezes o contexto que precisa. Feche abas não relacionadas. Referencie arquivos explicitamente com sintaxe hash file em vez de deixar o agent adivinhar. Todo token na janela é token cobrado.
Segunda, cache. System prompts, índices de codebase, documentos de referência grandes que aparecem turno após turno pertencem ao prompt cache. Um system prompt de cinquenta mil tokens rodando em taxa cheia de input, chamado cem vezes por dia, é vazamento de budget à vista de todos.
Terceira, compactação. Sessões longas acumulam context rot. Qualidade de resposta degrada antes do custo, o que importa para satisfação do engenheiro, não só para a fatura. Compactar histórico em sumário denso antes da qualidade degradar.
Isso não é nice-to-have. Essa é a diferença entre um time que prospera na nova precificação e um time que sofre.
[GANCHO PROVOCATIVO]
Context engineering vai ser cargo formal dentro de doze meses. Já é, em alguns clientes. Marquem.
[TRANSIÇÃO, para Parte III]
Com essa linguagem no lugar, vamos olhar onde o dinheiro de fato flui.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divider de seção]
Parte Três. O custo real.
[NÚCLEO]
Três slides. O gap de cem vezes entre uma pergunta de chat e uma sessão agêntica. A tabela de preços por modelo, que agora é ferramenta de budget, não guia de seleção de modelo. E a janela promocional, que está fechando para vocês quer usem, quer não.
Se a atenção começou a vagar, o slide que vem acorda a sala.
[TRANSIÇÃO, para slide 11, o gap de 100x]
O slide que reseta toda assunção.
[TIMING] ~30 seg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10]
Cem vezes. Essa é a razão de custo realista entre uma pergunta de chat e uma sessão agêntica longa. Mesmo dev, mesmo modelo, mesmo plano. Deixa eu mostrar os recibos.
[NÚCLEO]
Olhem o terminal à direita. Uma sessão agêntica real. Oitenta e sete turnos, quatro horas, refatorando um serviço em cinquenta arquivos. Total: quatro vírgula dois milhões de tokens de input, dois vírgula oito milhões de output, dois vírgula um milhão de cached. Custo final, cerca de cento e vinte e quatro dólares.
Agora imaginem o mesmo engenheiro fazendo trinta perguntas no chat para o mesmo modelo nas mesmas quatro horas. Daria cerca de um dólar e vinte. Cem-x. Mesma pessoa, mesmo modelo, mesmo plano, duas linhas completamente diferentes na fatura.
Sob PRUs, ambas contavam como 'requests'. A fatura não distinguia. Sob AI Credits, vocês veem exatamente quais cargas consumiram as quatro horas de compute.
Notem a coluna cached crescendo turno a turno. Isso é prompt caching funcionando. Sem prompt caching, a mesma sessão teria custado cerca de duzentos dólares. Cache economizou setenta e cinco.
[GANCHO PROVOCATIVO]
O gap de cem-x não é problema. É informação que a fatura de vocês estava escondendo. Agora não está mais.
[TRANSIÇÃO, para slide 12, taxas por modelo]
O que significa que escolha de modelo, o próximo slide, agora é a maior decisão de custo de vocês.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11]
Se o gap de cem-x é sobre tipo de carga, esse slide é sobre escolha de modelo. As duas maiores alavancas de custo que o time tem, e a maioria não sabe que tem nenhuma das duas.
[NÚCLEO]
Olhem o topo do slide. GPT-5 mini, output: zero credits, incluído. Claude Opus quatro vírgula sete, output: sete mil e quinhentos credits por milhão de tokens. Sete mil e quinhentas vezes de razão entre o output mais barato e o mais caro do menu. Mesma tarefa, mesmo dev, modelo diferente: diferença de sete mil e quinhentos para um do lado do output.
Isso não é crítica de seleção de modelo. Opus existe porque alguns problemas precisam de Opus. O ponto é: o time de vocês está fazendo essa escolha todo dia sem ver como decisão de budget.
A tabela embaixo mostra a tabela completa. Notem que GPT-5 mini é incluído, sem custo incremental. GPT-5 é o cavalo de trabalho. Claude Sonnet quatro vírgula seis é a escolha de contexto longo. Opus quatro vírgula sete é tier reservado para problemas difíceis.
Validem contra a documentação oficial de billing antes de comprometer budgets. Taxas evoluem. As razões são estáveis.
[GANCHO PROVOCATIVO]
Mudança cultural: GPT-5 mini vira default. Opus vira escolha deliberada com justificativa. O time que opera assim tem fatura trinta a cinquenta por cento menor que o time que não opera.
[TRANSIÇÃO, para slide 13, janela promocional]
Agora, antes das taxas cheias entrarem, tem uma janela. Usem bem.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12]
Junho a setembro. Quatro meses. Taxas subsidiadas. Esse é o tempo mais barato que vocês vão ter para aprender a operar bem no mundo novo.
[NÚCLEO]
Três fases. Fase um, pré-virada, até 31 de maio. Rodem Preview Your Usage contra o mês passado. Projetem o gasto sob o novo modelo com números reais, não estimativas. Identifiquem quais times, quais modelos, quais tipos de carga dominam.
Fase dois, aprendizado, primeiro de junho a primeiro de setembro. Taxas subsidiadas aplicam. Essa é a educação grátis de vocês. Observem para quais modelos o time vai. Observem quais sessões queimam mais credits. Observem onde prompt caching paga por si.
Fase três, regime estável, a partir de primeiro de setembro. Taxas cheias. Nesse ponto os budgets estão dimensionados pela projeção, a política de modelo está no lugar, o prompt caching está deployado, o time está treinado para ler a fatura.
[GANCHO PROVOCATIVO]
Os clientes que vejo tratar a fase de aprendizado como tempo de experimentação acabam com fatura trinta a quarenta por cento menor no regime estável que aqueles que esperam até setembro. Os clientes que esperam até setembro não estão atrasados um trimestre. Estão atrasados um ano, porque agora estão aprendendo a preço cheio.
[TRANSIÇÃO, para Parte IV]
O que nos leva à decisão de design que dirige mais variância de custo que qualquer outra coisa: agent versus workflow.
[TIMING]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divider de seção]
Parte Quatro. Design de agentes.
[NÚCLEO]
Uma distinção. Agent versus workflow. A única decisão de design que o time está tomando esse ano que dirige a maior variância de custo, e a maioria não percebe que está tomando. Chamam tudo de agent. A maior parte do que chamam de agent é workflow. E os rótulos importam para a conversa de budget.
[TRANSIÇÃO, para slide 15, o espectro]
O espectro.
[TIMING] ~30 seg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14]
A maioria do AI em produção é workflow. Guardem o agent para o que só o agent faz. Deixa eu caminhar pelo espectro.
[NÚCLEO]
Quatro colunas, esquerda para direita. Workflow: código chama modelo. Custo previsível. Classificação, sumarização, extração estruturada. Barato, rápido, confiável. Augmented: código chama modelo em loop. Custo moderado. Pesquisa com retries, raciocínio multi-passo com iterações limitadas. Agent: modelo escolhe tools e adapta. Custo variável, dez a cem vezes um workflow. Reservem para casos onde o caminho é desconhecido. Autônomo: modelo cria subagentes. Custo imprevisível. Pode rodar horas. Reservem para trabalho end-to-end onde nada mais entrega.
Olhem as barras de custo embaixo de cada coluna. Crescem com autonomia, não linearmente. A seta embaixo é a mensagem: noventa por cento do AI em produção vive na esquerda. O lado direito só é justificado por problemas que não podem ser resolvidos de outro jeito.
[GANCHO PROVOCATIVO]
A palavra agent virou rótulo de marketing para tudo. Quando o time chama um for-loop determinístico com uma chamada de LLM dentro de 'agent', eles não estão mentindo, estão usando a definição de marketing. A definição de budget é diferente. A fatura não se importa com o que marketing chamou.
[TRANSIÇÃO, para slide 16, os três padrões]
Se vocês de fato constroem agents, três padrões que pagam por si.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15]
Se o time de vocês constrói agents, esses três padrões não são opcionais. São a diferença entre carga agêntica que paga por si e vazamento de budget.
[NÚCLEO]
Primeiro, MCP, Model Context Protocol. Conexão padronizada entre agents e tools, entre agents e dados. Substitui as dezenas de integrações sob medida que todo time reconstrói. O benefício de custo é direto: definições de tool viram reutilizáveis entre agents e cacheáveis no prompt cache. Integrações sob medida não são.
Segundo, RAG, retrieval-augmented generation. Recuperar só o que o turno atual precisa. Enfiar um codebase de duzentos mil tokens em toda chamada é vazamento de budget à vista. Um índice pequeno mais retrieval direcionado paga por si na primeira semana. Já vi times reduzirem input por turno em noventa por cento sem perda de qualidade.
Terceiro, subagentes em isolamento. O agent principal delega uma tarefa focada a um subagente com contexto próprio limpo. O subagente faz o trabalho e devolve um sumário. A conversa principal nunca herda o contexto do subagente. Isso mantém o budget de tokens principal limitado e previsível.
[GANCHO PROVOCATIVO]
Sem esses três, cargas agênticas custam três a cinco vezes o que deveriam. Com eles, cabem no mesmo envelope que boa prática de engenharia sempre coube.
[TRANSIÇÃO, para Parte V]
Com a linguagem de design no lugar, o playbook operacional.
[TIMING]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divider de seção]
Parte Cinco. Operação.
[NÚCLEO]
Os dois últimos slides são os artefatos que o time leva para segunda de manhã. O FinOps stack para cargas de AI, as quatro camadas de governança que transformam fatura de uso em ativo gerenciado. E o roteiro de adoção de noventa dias, estruturado para vocês começarem amanhã, não em primeiro de junho.
[TRANSIÇÃO, para slide 18, FinOps stack]
Quatro camadas. Caminham de baixo para cima.
[TIMING] ~30 seg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17]
Quatro camadas. De baixo para cima. Pular uma camada é o modo de falha mais comum que vejo em engagement de cliente.
[NÚCLEO]
Camada um, fundação. Plano GitHub Copilot Enterprise com estrutura organizacional apropriada, SSO e identidade, allowlist em nível de repositório, conexão Azure AI Foundry onde governança exige. Sem isso, nada acima é enforceable.
Camada dois, disciplina. Prompt caching em prompts longos. RAG sobre raw context. Subagentes para tarefas focadas. Roteamento de modelo por classe de tarefa. Compactação periódica em sessões longas. Essas são as práticas de engenharia do dia a dia.
Camada três, visibilidade. Dashboard de overview de billing, relatório semanal de uso, breakdown de mix de modelo, top users e top sessões, alertas de anomalia em consumo de credits. Sem visibilidade, a camada de disciplina não é medida.
Camada quatro, política. Allowlist de modelo por time, budget por usuário, política de uso adicional (permitido ou bloqueado), plano de janela promocional, procedimento de escalação quando budget estoura. Sem política, a camada de visibilidade vira dashboard que ninguém age.
[GANCHO PROVOCATIVO]
Fundação sem disciplina dá ferramenta boa e custos descontrolados. Disciplina sem visibilidade dá otimização sem medição. Visibilidade sem política dá dashboards que ninguém lê. O stack só funciona como stack.
[TRANSIÇÃO, para slide 19, roteiro de 90 dias]
Agora, como de fato construir isso. Noventa dias.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18]
Comecem o relógio dos noventa dias agora. Não em primeiro de junho. Agora. Clientes que esperam até primeiro de junho estão seis semanas atrás quando a janela de aprendizado abre, e pagam preço cheio para alcançar.
[NÚCLEO]
Três fases, trinta dias cada. Dias um a trinta, baseline. Rodem a projeção de uso. Estabeleçam o allowlist de modelo. Treinem o time sobre o que muda. Escolham o squad piloto. Definam o budget por usuário. O squad piloto se escolhe sozinho: é o time que usa GitHub Copilot mais hoje.
Dias trinta e um a sessenta, instrumentar. Deployem prompt caching nos prompts longos. Subam o dashboard FinOps. Rodem revisão semanal de mix de modelo com o squad piloto. Refinem o budget com base em dados reais, não estimativas.
Dias sessenta e um a noventa, escalar. Expandam do squad piloto para a organização ampla. Publiquem o playbook interno. Conectem ao Azure AI Foundry onde governança exige. Travem a política de regime estável antes de primeiro de setembro.
[GANCHO PROVOCATIVO]
O plano de noventa dias é calibrado para a política aterrissar antes da janela de aprendizado fechar. Se começam em primeiro de junho, a política aterrissa no fim de agosto. Aí têm uma semana de experiência em taxa cheia para informar um budget dos próximos doze meses. Comecem agora.
[TRANSIÇÃO, para slide 20, encerramento]
Deixa eu fechar no que isso de fato é.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vindo do slide 19]
Último slide. Deixa eu fechar na mensagem abaixo da mensagem.
[NÚCLEO]
Tokens recompensam disciplina de engenharia. A transição que percorremos hoje não favorece a ferramenta mais barata, o time maior, ou a adoção mais agressiva de AI. Favorece o time que já opera com disciplina: contexto claro, escolha deliberada de modelo, sessões instrumentadas, budgets governados. Se esse time existe na organização de vocês, a transição recompensa eles. Se não existe, a transição expõe isso.
No lado direito da tela, o menor próximo passo concreto. Um template .github/copilot-instructions.md. Seis linhas. Modelo default GPT-5 mini, premium só para tarefas difíceis. Referenciar arquivos explicitamente. Cachear prompts longos. Esse arquivo, commitado no repositório mais usado de vocês, é o primeiro dia do plano de noventa dias.
O diagnóstico de noventa dias é incluído para clientes enterprise. A gente senta com o time de vocês, roda Preview Your Usage contra o histórico real, projeta o gasto sob o modelo novo, identifica as três intervenções de maior alavancagem, entrega um plano escrito. Grátis.
[GANCHO PROVOCATIVO]
Os clientes que vejo ganhando essa transição fazem uma coisa na primeira semana: tornam todo dev consciente que agora é, silenciosamente, comprador. Essa mudança cultural vale mais que qualquer otimização técnica desse deck. Comecem por aí.
[ENCERRAMENTO]
Meu contato está na tela. Perguntas, recebo agora.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146304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ECONOMIA DE TOKENS</a:t>
            </a:r>
            <a:endParaRPr lang="en-US" sz="1000" dirty="0"/>
          </a:p>
        </p:txBody>
      </p:sp>
      <p:sp>
        <p:nvSpPr>
          <p:cNvPr id="9" name="Text 7"/>
          <p:cNvSpPr/>
          <p:nvPr/>
        </p:nvSpPr>
        <p:spPr>
          <a:xfrm>
            <a:off x="457200" y="1828800"/>
            <a:ext cx="11247120" cy="3200400"/>
          </a:xfrm>
          <a:prstGeom prst="rect">
            <a:avLst/>
          </a:prstGeom>
          <a:noFill/>
          <a:ln/>
        </p:spPr>
        <p:txBody>
          <a:bodyPr wrap="square" lIns="0" tIns="0" rIns="0" bIns="0" rtlCol="0" anchor="t"/>
          <a:lstStyle/>
          <a:p>
            <a:pPr indent="0" marL="0">
              <a:buNone/>
            </a:pPr>
            <a:r>
              <a:rPr lang="en-US" sz="4400" dirty="0">
                <a:solidFill>
                  <a:srgbClr val="1A1A19"/>
                </a:solidFill>
                <a:latin typeface="Inter" pitchFamily="34" charset="0"/>
                <a:ea typeface="Inter" pitchFamily="34" charset="-122"/>
                <a:cs typeface="Inter" pitchFamily="34" charset="-120"/>
              </a:rPr>
              <a:t>Gestão de tokens e design de agentes
</a:t>
            </a:r>
            <a:pPr indent="0" marL="0">
              <a:buNone/>
            </a:pPr>
            <a:r>
              <a:rPr lang="en-US" sz="4400" dirty="0">
                <a:solidFill>
                  <a:srgbClr val="00A4EF"/>
                </a:solidFill>
                <a:latin typeface="Inter" pitchFamily="34" charset="0"/>
                <a:ea typeface="Inter" pitchFamily="34" charset="-122"/>
                <a:cs typeface="Inter" pitchFamily="34" charset="-120"/>
              </a:rPr>
              <a:t>para a era dos AI Credits do GitHub Copilot</a:t>
            </a:r>
            <a:endParaRPr lang="en-US" sz="4400" dirty="0"/>
          </a:p>
        </p:txBody>
      </p:sp>
      <p:sp>
        <p:nvSpPr>
          <p:cNvPr id="10" name="Text 8"/>
          <p:cNvSpPr/>
          <p:nvPr/>
        </p:nvSpPr>
        <p:spPr>
          <a:xfrm>
            <a:off x="457200" y="5029200"/>
            <a:ext cx="10058400" cy="640080"/>
          </a:xfrm>
          <a:prstGeom prst="rect">
            <a:avLst/>
          </a:prstGeom>
          <a:noFill/>
          <a:ln/>
        </p:spPr>
        <p:txBody>
          <a:bodyPr wrap="square" lIns="0" tIns="0" rIns="0" bIns="0" rtlCol="0" anchor="t"/>
          <a:lstStyle/>
          <a:p>
            <a:pPr indent="0" marL="0">
              <a:buNone/>
            </a:pPr>
            <a:r>
              <a:rPr lang="en-US" sz="1500" dirty="0">
                <a:solidFill>
                  <a:srgbClr val="5C5A52"/>
                </a:solidFill>
                <a:latin typeface="Inter" pitchFamily="34" charset="0"/>
                <a:ea typeface="Inter" pitchFamily="34" charset="-122"/>
                <a:cs typeface="Inter" pitchFamily="34" charset="-120"/>
              </a:rPr>
              <a:t>Um briefing executivo e técnico sobre a transição para billing baseado em uso, o que isso muda na sua organização de engenharia, e como operar bem dentro desse novo modelo.</a:t>
            </a:r>
            <a:endParaRPr lang="en-US" sz="1500" dirty="0"/>
          </a:p>
        </p:txBody>
      </p:sp>
      <p:sp>
        <p:nvSpPr>
          <p:cNvPr id="11" name="Text 9"/>
          <p:cNvSpPr/>
          <p:nvPr/>
        </p:nvSpPr>
        <p:spPr>
          <a:xfrm>
            <a:off x="457200" y="5669280"/>
            <a:ext cx="2743200" cy="731520"/>
          </a:xfrm>
          <a:prstGeom prst="rect">
            <a:avLst/>
          </a:prstGeom>
          <a:noFill/>
          <a:ln/>
        </p:spPr>
        <p:txBody>
          <a:bodyPr wrap="square" lIns="0" tIns="0" rIns="0" bIns="0" rtlCol="0" anchor="t"/>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Autor
</a:t>
            </a:r>
            <a:pPr indent="0" marL="0">
              <a:buNone/>
            </a:pPr>
            <a:r>
              <a:rPr lang="en-US" sz="1200" dirty="0">
                <a:solidFill>
                  <a:srgbClr val="1A1A19"/>
                </a:solidFill>
                <a:latin typeface="JetBrains Mono" pitchFamily="34" charset="0"/>
                <a:ea typeface="JetBrains Mono" pitchFamily="34" charset="-122"/>
                <a:cs typeface="JetBrains Mono" pitchFamily="34" charset="-120"/>
              </a:rPr>
              <a:t>Paula Silva</a:t>
            </a:r>
            <a:endParaRPr lang="en-US" sz="900" dirty="0"/>
          </a:p>
          <a:p>
            <a:pPr indent="0" marL="0">
              <a:buNone/>
            </a:pPr>
            <a:r>
              <a:rPr lang="en-US" sz="1200" dirty="0">
                <a:solidFill>
                  <a:srgbClr val="1A1A19"/>
                </a:solidFill>
                <a:latin typeface="JetBrains Mono" pitchFamily="34" charset="0"/>
                <a:ea typeface="JetBrains Mono" pitchFamily="34" charset="-122"/>
                <a:cs typeface="JetBrains Mono" pitchFamily="34" charset="-120"/>
              </a:rPr>
              <a:t>Software Global Black Belt</a:t>
            </a:r>
            <a:endParaRPr lang="en-US" sz="900" dirty="0"/>
          </a:p>
        </p:txBody>
      </p:sp>
      <p:sp>
        <p:nvSpPr>
          <p:cNvPr id="12" name="Text 10"/>
          <p:cNvSpPr/>
          <p:nvPr/>
        </p:nvSpPr>
        <p:spPr>
          <a:xfrm>
            <a:off x="4572000" y="5669280"/>
            <a:ext cx="2286000" cy="731520"/>
          </a:xfrm>
          <a:prstGeom prst="rect">
            <a:avLst/>
          </a:prstGeom>
          <a:noFill/>
          <a:ln/>
        </p:spPr>
        <p:txBody>
          <a:bodyPr wrap="square" lIns="0" tIns="0" rIns="0" bIns="0" rtlCol="0" anchor="t"/>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Publicado
</a:t>
            </a:r>
            <a:pPr indent="0" marL="0">
              <a:buNone/>
            </a:pPr>
            <a:r>
              <a:rPr lang="en-US" sz="1200" dirty="0">
                <a:solidFill>
                  <a:srgbClr val="1A1A19"/>
                </a:solidFill>
                <a:latin typeface="JetBrains Mono" pitchFamily="34" charset="0"/>
                <a:ea typeface="JetBrains Mono" pitchFamily="34" charset="-122"/>
                <a:cs typeface="JetBrains Mono" pitchFamily="34" charset="-120"/>
              </a:rPr>
              <a:t>2026-05-28</a:t>
            </a:r>
            <a:endParaRPr lang="en-US" sz="900" dirty="0"/>
          </a:p>
        </p:txBody>
      </p:sp>
      <p:sp>
        <p:nvSpPr>
          <p:cNvPr id="13" name="Text 11"/>
          <p:cNvSpPr/>
          <p:nvPr/>
        </p:nvSpPr>
        <p:spPr>
          <a:xfrm>
            <a:off x="7315200" y="5669280"/>
            <a:ext cx="4572000" cy="731520"/>
          </a:xfrm>
          <a:prstGeom prst="rect">
            <a:avLst/>
          </a:prstGeom>
          <a:noFill/>
          <a:ln/>
        </p:spPr>
        <p:txBody>
          <a:bodyPr wrap="square" lIns="0" tIns="0" rIns="0" bIns="0" rtlCol="0" anchor="t"/>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Audiência
</a:t>
            </a:r>
            <a:pPr indent="0" marL="0">
              <a:buNone/>
            </a:pPr>
            <a:r>
              <a:rPr lang="en-US" sz="1200" dirty="0">
                <a:solidFill>
                  <a:srgbClr val="1A1A19"/>
                </a:solidFill>
                <a:latin typeface="JetBrains Mono" pitchFamily="34" charset="0"/>
                <a:ea typeface="JetBrains Mono" pitchFamily="34" charset="-122"/>
                <a:cs typeface="JetBrains Mono" pitchFamily="34" charset="-120"/>
              </a:rPr>
              <a:t>Líderes de engenharia, FinOps, plataforma</a:t>
            </a:r>
            <a:endParaRPr lang="en-US" sz="900" dirty="0"/>
          </a:p>
        </p:txBody>
      </p:sp>
      <p:sp>
        <p:nvSpPr>
          <p:cNvPr id="14" name="Shape 12"/>
          <p:cNvSpPr/>
          <p:nvPr/>
        </p:nvSpPr>
        <p:spPr>
          <a:xfrm>
            <a:off x="457200" y="6400800"/>
            <a:ext cx="548640" cy="45720"/>
          </a:xfrm>
          <a:prstGeom prst="rect">
            <a:avLst/>
          </a:prstGeom>
          <a:solidFill>
            <a:srgbClr val="F25022"/>
          </a:solidFill>
          <a:ln/>
        </p:spPr>
      </p:sp>
      <p:sp>
        <p:nvSpPr>
          <p:cNvPr id="15" name="Shape 13"/>
          <p:cNvSpPr/>
          <p:nvPr/>
        </p:nvSpPr>
        <p:spPr>
          <a:xfrm>
            <a:off x="1005840" y="6400800"/>
            <a:ext cx="548640" cy="45720"/>
          </a:xfrm>
          <a:prstGeom prst="rect">
            <a:avLst/>
          </a:prstGeom>
          <a:solidFill>
            <a:srgbClr val="7FBA00"/>
          </a:solidFill>
          <a:ln/>
        </p:spPr>
      </p:sp>
      <p:sp>
        <p:nvSpPr>
          <p:cNvPr id="16" name="Shape 14"/>
          <p:cNvSpPr/>
          <p:nvPr/>
        </p:nvSpPr>
        <p:spPr>
          <a:xfrm>
            <a:off x="1554480" y="6400800"/>
            <a:ext cx="548640" cy="45720"/>
          </a:xfrm>
          <a:prstGeom prst="rect">
            <a:avLst/>
          </a:prstGeom>
          <a:solidFill>
            <a:srgbClr val="FFB900"/>
          </a:solidFill>
          <a:ln/>
        </p:spPr>
      </p:sp>
      <p:sp>
        <p:nvSpPr>
          <p:cNvPr id="17" name="Shape 15"/>
          <p:cNvSpPr/>
          <p:nvPr/>
        </p:nvSpPr>
        <p:spPr>
          <a:xfrm>
            <a:off x="2103120" y="6400800"/>
            <a:ext cx="548640" cy="45720"/>
          </a:xfrm>
          <a:prstGeom prst="rect">
            <a:avLst/>
          </a:prstGeom>
          <a:solidFill>
            <a:srgbClr val="00A4EF"/>
          </a:solidFill>
          <a:ln/>
        </p:spPr>
      </p:sp>
      <p:sp>
        <p:nvSpPr>
          <p:cNvPr id="18" name="Text 16"/>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AGENDA</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600" dirty="0">
                <a:solidFill>
                  <a:srgbClr val="1A1A19"/>
                </a:solidFill>
                <a:latin typeface="Inter" pitchFamily="34" charset="0"/>
                <a:ea typeface="Inter" pitchFamily="34" charset="-122"/>
                <a:cs typeface="Inter" pitchFamily="34" charset="-120"/>
              </a:rPr>
              <a:t>Cinco partes, uma mesma moldura.</a:t>
            </a:r>
            <a:endParaRPr lang="en-US" sz="3600" dirty="0"/>
          </a:p>
        </p:txBody>
      </p:sp>
      <p:sp>
        <p:nvSpPr>
          <p:cNvPr id="10" name="Text 8"/>
          <p:cNvSpPr/>
          <p:nvPr/>
        </p:nvSpPr>
        <p:spPr>
          <a:xfrm>
            <a:off x="457200" y="3108960"/>
            <a:ext cx="1371600" cy="640080"/>
          </a:xfrm>
          <a:prstGeom prst="rect">
            <a:avLst/>
          </a:prstGeom>
          <a:noFill/>
          <a:ln/>
        </p:spPr>
        <p:txBody>
          <a:bodyPr wrap="square" lIns="0" tIns="0" rIns="0" bIns="0" rtlCol="0" anchor="ctr"/>
          <a:lstStyle/>
          <a:p>
            <a:pPr indent="0" marL="0">
              <a:buNone/>
            </a:pPr>
            <a:r>
              <a:rPr lang="en-US" sz="1100" b="1" spc="300" kern="0" dirty="0">
                <a:solidFill>
                  <a:srgbClr val="82807A"/>
                </a:solidFill>
                <a:latin typeface="JetBrains Mono" pitchFamily="34" charset="0"/>
                <a:ea typeface="JetBrains Mono" pitchFamily="34" charset="-122"/>
                <a:cs typeface="JetBrains Mono" pitchFamily="34" charset="-120"/>
              </a:rPr>
              <a:t>PARTE I</a:t>
            </a:r>
            <a:endParaRPr lang="en-US" sz="1100" dirty="0"/>
          </a:p>
        </p:txBody>
      </p:sp>
      <p:sp>
        <p:nvSpPr>
          <p:cNvPr id="11" name="Text 9"/>
          <p:cNvSpPr/>
          <p:nvPr/>
        </p:nvSpPr>
        <p:spPr>
          <a:xfrm>
            <a:off x="2011680" y="3108960"/>
            <a:ext cx="9601200" cy="640080"/>
          </a:xfrm>
          <a:prstGeom prst="rect">
            <a:avLst/>
          </a:prstGeom>
          <a:noFill/>
          <a:ln/>
        </p:spPr>
        <p:txBody>
          <a:bodyPr wrap="square" lIns="0" tIns="0" rIns="0" bIns="0" rtlCol="0" anchor="ctr"/>
          <a:lstStyle/>
          <a:p>
            <a:pPr indent="0" marL="0">
              <a:buNone/>
            </a:pPr>
            <a:r>
              <a:rPr lang="en-US" sz="1800" dirty="0">
                <a:solidFill>
                  <a:srgbClr val="1A1A19"/>
                </a:solidFill>
                <a:latin typeface="Inter" pitchFamily="34" charset="0"/>
                <a:ea typeface="Inter" pitchFamily="34" charset="-122"/>
                <a:cs typeface="Inter" pitchFamily="34" charset="-120"/>
              </a:rPr>
              <a:t>O fato, AI Credits substituem o billing por requisição em 1 de junho de 2026</a:t>
            </a:r>
            <a:endParaRPr lang="en-US" sz="1800" dirty="0"/>
          </a:p>
        </p:txBody>
      </p:sp>
      <p:sp>
        <p:nvSpPr>
          <p:cNvPr id="12" name="Shape 10"/>
          <p:cNvSpPr/>
          <p:nvPr/>
        </p:nvSpPr>
        <p:spPr>
          <a:xfrm>
            <a:off x="457200" y="3749040"/>
            <a:ext cx="11247120" cy="0"/>
          </a:xfrm>
          <a:prstGeom prst="line">
            <a:avLst/>
          </a:prstGeom>
          <a:noFill/>
          <a:ln w="6350">
            <a:solidFill>
              <a:srgbClr val="E8E5DC"/>
            </a:solidFill>
            <a:prstDash val="solid"/>
          </a:ln>
        </p:spPr>
      </p:sp>
      <p:sp>
        <p:nvSpPr>
          <p:cNvPr id="13" name="Text 11"/>
          <p:cNvSpPr/>
          <p:nvPr/>
        </p:nvSpPr>
        <p:spPr>
          <a:xfrm>
            <a:off x="457200" y="3749040"/>
            <a:ext cx="1371600" cy="640080"/>
          </a:xfrm>
          <a:prstGeom prst="rect">
            <a:avLst/>
          </a:prstGeom>
          <a:noFill/>
          <a:ln/>
        </p:spPr>
        <p:txBody>
          <a:bodyPr wrap="square" lIns="0" tIns="0" rIns="0" bIns="0" rtlCol="0" anchor="ctr"/>
          <a:lstStyle/>
          <a:p>
            <a:pPr indent="0" marL="0">
              <a:buNone/>
            </a:pPr>
            <a:r>
              <a:rPr lang="en-US" sz="1100" b="1" spc="300" kern="0" dirty="0">
                <a:solidFill>
                  <a:srgbClr val="82807A"/>
                </a:solidFill>
                <a:latin typeface="JetBrains Mono" pitchFamily="34" charset="0"/>
                <a:ea typeface="JetBrains Mono" pitchFamily="34" charset="-122"/>
                <a:cs typeface="JetBrains Mono" pitchFamily="34" charset="-120"/>
              </a:rPr>
              <a:t>PARTE II</a:t>
            </a:r>
            <a:endParaRPr lang="en-US" sz="1100" dirty="0"/>
          </a:p>
        </p:txBody>
      </p:sp>
      <p:sp>
        <p:nvSpPr>
          <p:cNvPr id="14" name="Text 12"/>
          <p:cNvSpPr/>
          <p:nvPr/>
        </p:nvSpPr>
        <p:spPr>
          <a:xfrm>
            <a:off x="2011680" y="3749040"/>
            <a:ext cx="9601200" cy="640080"/>
          </a:xfrm>
          <a:prstGeom prst="rect">
            <a:avLst/>
          </a:prstGeom>
          <a:noFill/>
          <a:ln/>
        </p:spPr>
        <p:txBody>
          <a:bodyPr wrap="square" lIns="0" tIns="0" rIns="0" bIns="0" rtlCol="0" anchor="ctr"/>
          <a:lstStyle/>
          <a:p>
            <a:pPr indent="0" marL="0">
              <a:buNone/>
            </a:pPr>
            <a:r>
              <a:rPr lang="en-US" sz="1800" dirty="0">
                <a:solidFill>
                  <a:srgbClr val="1A1A19"/>
                </a:solidFill>
                <a:latin typeface="Inter" pitchFamily="34" charset="0"/>
                <a:ea typeface="Inter" pitchFamily="34" charset="-122"/>
                <a:cs typeface="Inter" pitchFamily="34" charset="-120"/>
              </a:rPr>
              <a:t>Fundamentos, o que é um token e por que context engineering importa</a:t>
            </a:r>
            <a:endParaRPr lang="en-US" sz="1800" dirty="0"/>
          </a:p>
        </p:txBody>
      </p:sp>
      <p:sp>
        <p:nvSpPr>
          <p:cNvPr id="15" name="Shape 13"/>
          <p:cNvSpPr/>
          <p:nvPr/>
        </p:nvSpPr>
        <p:spPr>
          <a:xfrm>
            <a:off x="457200" y="4389120"/>
            <a:ext cx="11247120" cy="0"/>
          </a:xfrm>
          <a:prstGeom prst="line">
            <a:avLst/>
          </a:prstGeom>
          <a:noFill/>
          <a:ln w="6350">
            <a:solidFill>
              <a:srgbClr val="E8E5DC"/>
            </a:solidFill>
            <a:prstDash val="solid"/>
          </a:ln>
        </p:spPr>
      </p:sp>
      <p:sp>
        <p:nvSpPr>
          <p:cNvPr id="16" name="Text 14"/>
          <p:cNvSpPr/>
          <p:nvPr/>
        </p:nvSpPr>
        <p:spPr>
          <a:xfrm>
            <a:off x="457200" y="4389120"/>
            <a:ext cx="1371600" cy="640080"/>
          </a:xfrm>
          <a:prstGeom prst="rect">
            <a:avLst/>
          </a:prstGeom>
          <a:noFill/>
          <a:ln/>
        </p:spPr>
        <p:txBody>
          <a:bodyPr wrap="square" lIns="0" tIns="0" rIns="0" bIns="0" rtlCol="0" anchor="ctr"/>
          <a:lstStyle/>
          <a:p>
            <a:pPr indent="0" marL="0">
              <a:buNone/>
            </a:pPr>
            <a:r>
              <a:rPr lang="en-US" sz="1100" b="1" spc="300" kern="0" dirty="0">
                <a:solidFill>
                  <a:srgbClr val="82807A"/>
                </a:solidFill>
                <a:latin typeface="JetBrains Mono" pitchFamily="34" charset="0"/>
                <a:ea typeface="JetBrains Mono" pitchFamily="34" charset="-122"/>
                <a:cs typeface="JetBrains Mono" pitchFamily="34" charset="-120"/>
              </a:rPr>
              <a:t>PARTE III</a:t>
            </a:r>
            <a:endParaRPr lang="en-US" sz="1100" dirty="0"/>
          </a:p>
        </p:txBody>
      </p:sp>
      <p:sp>
        <p:nvSpPr>
          <p:cNvPr id="17" name="Text 15"/>
          <p:cNvSpPr/>
          <p:nvPr/>
        </p:nvSpPr>
        <p:spPr>
          <a:xfrm>
            <a:off x="2011680" y="4389120"/>
            <a:ext cx="9601200" cy="640080"/>
          </a:xfrm>
          <a:prstGeom prst="rect">
            <a:avLst/>
          </a:prstGeom>
          <a:noFill/>
          <a:ln/>
        </p:spPr>
        <p:txBody>
          <a:bodyPr wrap="square" lIns="0" tIns="0" rIns="0" bIns="0" rtlCol="0" anchor="ctr"/>
          <a:lstStyle/>
          <a:p>
            <a:pPr indent="0" marL="0">
              <a:buNone/>
            </a:pPr>
            <a:r>
              <a:rPr lang="en-US" sz="1800" dirty="0">
                <a:solidFill>
                  <a:srgbClr val="1A1A19"/>
                </a:solidFill>
                <a:latin typeface="Inter" pitchFamily="34" charset="0"/>
                <a:ea typeface="Inter" pitchFamily="34" charset="-122"/>
                <a:cs typeface="Inter" pitchFamily="34" charset="-120"/>
              </a:rPr>
              <a:t>O custo real, multiplicadores por modelo, janela promocional, a história do bill do dev</a:t>
            </a:r>
            <a:endParaRPr lang="en-US" sz="1800" dirty="0"/>
          </a:p>
        </p:txBody>
      </p:sp>
      <p:sp>
        <p:nvSpPr>
          <p:cNvPr id="18" name="Shape 16"/>
          <p:cNvSpPr/>
          <p:nvPr/>
        </p:nvSpPr>
        <p:spPr>
          <a:xfrm>
            <a:off x="457200" y="5029200"/>
            <a:ext cx="11247120" cy="0"/>
          </a:xfrm>
          <a:prstGeom prst="line">
            <a:avLst/>
          </a:prstGeom>
          <a:noFill/>
          <a:ln w="6350">
            <a:solidFill>
              <a:srgbClr val="E8E5DC"/>
            </a:solidFill>
            <a:prstDash val="solid"/>
          </a:ln>
        </p:spPr>
      </p:sp>
      <p:sp>
        <p:nvSpPr>
          <p:cNvPr id="19" name="Text 17"/>
          <p:cNvSpPr/>
          <p:nvPr/>
        </p:nvSpPr>
        <p:spPr>
          <a:xfrm>
            <a:off x="457200" y="5029200"/>
            <a:ext cx="1371600" cy="640080"/>
          </a:xfrm>
          <a:prstGeom prst="rect">
            <a:avLst/>
          </a:prstGeom>
          <a:noFill/>
          <a:ln/>
        </p:spPr>
        <p:txBody>
          <a:bodyPr wrap="square" lIns="0" tIns="0" rIns="0" bIns="0" rtlCol="0" anchor="ctr"/>
          <a:lstStyle/>
          <a:p>
            <a:pPr indent="0" marL="0">
              <a:buNone/>
            </a:pPr>
            <a:r>
              <a:rPr lang="en-US" sz="1100" b="1" spc="300" kern="0" dirty="0">
                <a:solidFill>
                  <a:srgbClr val="82807A"/>
                </a:solidFill>
                <a:latin typeface="JetBrains Mono" pitchFamily="34" charset="0"/>
                <a:ea typeface="JetBrains Mono" pitchFamily="34" charset="-122"/>
                <a:cs typeface="JetBrains Mono" pitchFamily="34" charset="-120"/>
              </a:rPr>
              <a:t>PARTE IV</a:t>
            </a:r>
            <a:endParaRPr lang="en-US" sz="1100" dirty="0"/>
          </a:p>
        </p:txBody>
      </p:sp>
      <p:sp>
        <p:nvSpPr>
          <p:cNvPr id="20" name="Text 18"/>
          <p:cNvSpPr/>
          <p:nvPr/>
        </p:nvSpPr>
        <p:spPr>
          <a:xfrm>
            <a:off x="2011680" y="5029200"/>
            <a:ext cx="9601200" cy="640080"/>
          </a:xfrm>
          <a:prstGeom prst="rect">
            <a:avLst/>
          </a:prstGeom>
          <a:noFill/>
          <a:ln/>
        </p:spPr>
        <p:txBody>
          <a:bodyPr wrap="square" lIns="0" tIns="0" rIns="0" bIns="0" rtlCol="0" anchor="ctr"/>
          <a:lstStyle/>
          <a:p>
            <a:pPr indent="0" marL="0">
              <a:buNone/>
            </a:pPr>
            <a:r>
              <a:rPr lang="en-US" sz="1800" dirty="0">
                <a:solidFill>
                  <a:srgbClr val="1A1A19"/>
                </a:solidFill>
                <a:latin typeface="Inter" pitchFamily="34" charset="0"/>
                <a:ea typeface="Inter" pitchFamily="34" charset="-122"/>
                <a:cs typeface="Inter" pitchFamily="34" charset="-120"/>
              </a:rPr>
              <a:t>Design de agentes, quando um agente paga seu custo e quando workflow é a resposta certa</a:t>
            </a:r>
            <a:endParaRPr lang="en-US" sz="1800" dirty="0"/>
          </a:p>
        </p:txBody>
      </p:sp>
      <p:sp>
        <p:nvSpPr>
          <p:cNvPr id="21" name="Shape 19"/>
          <p:cNvSpPr/>
          <p:nvPr/>
        </p:nvSpPr>
        <p:spPr>
          <a:xfrm>
            <a:off x="457200" y="5669280"/>
            <a:ext cx="11247120" cy="0"/>
          </a:xfrm>
          <a:prstGeom prst="line">
            <a:avLst/>
          </a:prstGeom>
          <a:noFill/>
          <a:ln w="6350">
            <a:solidFill>
              <a:srgbClr val="E8E5DC"/>
            </a:solidFill>
            <a:prstDash val="solid"/>
          </a:ln>
        </p:spPr>
      </p:sp>
      <p:sp>
        <p:nvSpPr>
          <p:cNvPr id="22" name="Text 20"/>
          <p:cNvSpPr/>
          <p:nvPr/>
        </p:nvSpPr>
        <p:spPr>
          <a:xfrm>
            <a:off x="457200" y="5669280"/>
            <a:ext cx="1371600" cy="640080"/>
          </a:xfrm>
          <a:prstGeom prst="rect">
            <a:avLst/>
          </a:prstGeom>
          <a:noFill/>
          <a:ln/>
        </p:spPr>
        <p:txBody>
          <a:bodyPr wrap="square" lIns="0" tIns="0" rIns="0" bIns="0" rtlCol="0" anchor="ctr"/>
          <a:lstStyle/>
          <a:p>
            <a:pPr indent="0" marL="0">
              <a:buNone/>
            </a:pPr>
            <a:r>
              <a:rPr lang="en-US" sz="1100" b="1" spc="300" kern="0" dirty="0">
                <a:solidFill>
                  <a:srgbClr val="82807A"/>
                </a:solidFill>
                <a:latin typeface="JetBrains Mono" pitchFamily="34" charset="0"/>
                <a:ea typeface="JetBrains Mono" pitchFamily="34" charset="-122"/>
                <a:cs typeface="JetBrains Mono" pitchFamily="34" charset="-120"/>
              </a:rPr>
              <a:t>PARTE V</a:t>
            </a:r>
            <a:endParaRPr lang="en-US" sz="1100" dirty="0"/>
          </a:p>
        </p:txBody>
      </p:sp>
      <p:sp>
        <p:nvSpPr>
          <p:cNvPr id="23" name="Text 21"/>
          <p:cNvSpPr/>
          <p:nvPr/>
        </p:nvSpPr>
        <p:spPr>
          <a:xfrm>
            <a:off x="2011680" y="5669280"/>
            <a:ext cx="9601200" cy="640080"/>
          </a:xfrm>
          <a:prstGeom prst="rect">
            <a:avLst/>
          </a:prstGeom>
          <a:noFill/>
          <a:ln/>
        </p:spPr>
        <p:txBody>
          <a:bodyPr wrap="square" lIns="0" tIns="0" rIns="0" bIns="0" rtlCol="0" anchor="ctr"/>
          <a:lstStyle/>
          <a:p>
            <a:pPr indent="0" marL="0">
              <a:buNone/>
            </a:pPr>
            <a:r>
              <a:rPr lang="en-US" sz="1800" dirty="0">
                <a:solidFill>
                  <a:srgbClr val="1A1A19"/>
                </a:solidFill>
                <a:latin typeface="Inter" pitchFamily="34" charset="0"/>
                <a:ea typeface="Inter" pitchFamily="34" charset="-122"/>
                <a:cs typeface="Inter" pitchFamily="34" charset="-120"/>
              </a:rPr>
              <a:t>Operação, stack de FinOps e roteiro de adoção em 90 dias</a:t>
            </a:r>
            <a:endParaRPr lang="en-US" sz="1800" dirty="0"/>
          </a:p>
        </p:txBody>
      </p:sp>
      <p:sp>
        <p:nvSpPr>
          <p:cNvPr id="24" name="Text 22"/>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0E"/>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B8B6AE"/>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2286000"/>
            <a:ext cx="3657600" cy="457200"/>
          </a:xfrm>
          <a:prstGeom prst="rect">
            <a:avLst/>
          </a:prstGeom>
          <a:noFill/>
          <a:ln/>
        </p:spPr>
        <p:txBody>
          <a:bodyPr wrap="square" lIns="0" tIns="0" rIns="0" bIns="0" rtlCol="0" anchor="ctr"/>
          <a:lstStyle/>
          <a:p>
            <a:pPr indent="0" marL="0">
              <a:buNone/>
            </a:pPr>
            <a:r>
              <a:rPr lang="en-US" sz="1400" b="1" spc="600" kern="0" dirty="0">
                <a:solidFill>
                  <a:srgbClr val="F25022"/>
                </a:solidFill>
                <a:latin typeface="JetBrains Mono" pitchFamily="34" charset="0"/>
                <a:ea typeface="JetBrains Mono" pitchFamily="34" charset="-122"/>
                <a:cs typeface="JetBrains Mono" pitchFamily="34" charset="-120"/>
              </a:rPr>
              <a:t>PARTE</a:t>
            </a:r>
            <a:endParaRPr lang="en-US" sz="1400" dirty="0"/>
          </a:p>
        </p:txBody>
      </p:sp>
      <p:sp>
        <p:nvSpPr>
          <p:cNvPr id="9" name="Text 7"/>
          <p:cNvSpPr/>
          <p:nvPr/>
        </p:nvSpPr>
        <p:spPr>
          <a:xfrm>
            <a:off x="457200" y="2651760"/>
            <a:ext cx="4572000" cy="2743200"/>
          </a:xfrm>
          <a:prstGeom prst="rect">
            <a:avLst/>
          </a:prstGeom>
          <a:noFill/>
          <a:ln/>
        </p:spPr>
        <p:txBody>
          <a:bodyPr wrap="square" lIns="0" tIns="0" rIns="0" bIns="0" rtlCol="0" anchor="t"/>
          <a:lstStyle/>
          <a:p>
            <a:pPr indent="0" marL="0">
              <a:buNone/>
            </a:pPr>
            <a:r>
              <a:rPr lang="en-US" sz="14000" b="1" dirty="0">
                <a:solidFill>
                  <a:srgbClr val="F25022"/>
                </a:solidFill>
                <a:latin typeface="Inter" pitchFamily="34" charset="0"/>
                <a:ea typeface="Inter" pitchFamily="34" charset="-122"/>
                <a:cs typeface="Inter" pitchFamily="34" charset="-120"/>
              </a:rPr>
              <a:t>01</a:t>
            </a:r>
            <a:endParaRPr lang="en-US" sz="14000" dirty="0"/>
          </a:p>
        </p:txBody>
      </p:sp>
      <p:sp>
        <p:nvSpPr>
          <p:cNvPr id="10" name="Text 8"/>
          <p:cNvSpPr/>
          <p:nvPr/>
        </p:nvSpPr>
        <p:spPr>
          <a:xfrm>
            <a:off x="5486400" y="3200400"/>
            <a:ext cx="6400800" cy="914400"/>
          </a:xfrm>
          <a:prstGeom prst="rect">
            <a:avLst/>
          </a:prstGeom>
          <a:noFill/>
          <a:ln/>
        </p:spPr>
        <p:txBody>
          <a:bodyPr wrap="square" lIns="0" tIns="0" rIns="0" bIns="0" rtlCol="0" anchor="t"/>
          <a:lstStyle/>
          <a:p>
            <a:pPr indent="0" marL="0">
              <a:buNone/>
            </a:pPr>
            <a:r>
              <a:rPr lang="en-US" sz="5000" dirty="0">
                <a:solidFill>
                  <a:srgbClr val="F0F0EB"/>
                </a:solidFill>
                <a:latin typeface="Inter" pitchFamily="34" charset="0"/>
                <a:ea typeface="Inter" pitchFamily="34" charset="-122"/>
                <a:cs typeface="Inter" pitchFamily="34" charset="-120"/>
              </a:rPr>
              <a:t>O fato.</a:t>
            </a:r>
            <a:endParaRPr lang="en-US" sz="5000" dirty="0"/>
          </a:p>
        </p:txBody>
      </p:sp>
      <p:sp>
        <p:nvSpPr>
          <p:cNvPr id="11" name="Text 9"/>
          <p:cNvSpPr/>
          <p:nvPr/>
        </p:nvSpPr>
        <p:spPr>
          <a:xfrm>
            <a:off x="5486400" y="4297680"/>
            <a:ext cx="6400800" cy="1371600"/>
          </a:xfrm>
          <a:prstGeom prst="rect">
            <a:avLst/>
          </a:prstGeom>
          <a:noFill/>
          <a:ln/>
        </p:spPr>
        <p:txBody>
          <a:bodyPr wrap="square" lIns="0" tIns="0" rIns="0" bIns="0" rtlCol="0" anchor="t"/>
          <a:lstStyle/>
          <a:p>
            <a:pPr indent="0" marL="0">
              <a:buNone/>
            </a:pPr>
            <a:r>
              <a:rPr lang="en-US" sz="1500" dirty="0">
                <a:solidFill>
                  <a:srgbClr val="B8B6AE"/>
                </a:solidFill>
                <a:latin typeface="Inter" pitchFamily="34" charset="0"/>
                <a:ea typeface="Inter" pitchFamily="34" charset="-122"/>
                <a:cs typeface="Inter" pitchFamily="34" charset="-120"/>
              </a:rPr>
              <a:t>Em 1 de junho de 2026, GitHub Copilot deixa de cobrar por requisição. Tokens passam a ser a unidade de custo.</a:t>
            </a:r>
            <a:endParaRPr lang="en-US" sz="1500" dirty="0"/>
          </a:p>
        </p:txBody>
      </p:sp>
      <p:sp>
        <p:nvSpPr>
          <p:cNvPr id="12" name="Text 1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F25022"/>
                </a:solidFill>
                <a:latin typeface="JetBrains Mono" pitchFamily="34" charset="0"/>
                <a:ea typeface="JetBrains Mono" pitchFamily="34" charset="-122"/>
                <a:cs typeface="JetBrains Mono" pitchFamily="34" charset="-120"/>
              </a:rPr>
              <a:t>A DATA DE VIRADA</a:t>
            </a:r>
            <a:endParaRPr lang="en-US" sz="1000" dirty="0"/>
          </a:p>
        </p:txBody>
      </p:sp>
      <p:sp>
        <p:nvSpPr>
          <p:cNvPr id="9" name="Shape 7"/>
          <p:cNvSpPr/>
          <p:nvPr/>
        </p:nvSpPr>
        <p:spPr>
          <a:xfrm>
            <a:off x="2743200" y="886968"/>
            <a:ext cx="2011680" cy="320040"/>
          </a:xfrm>
          <a:prstGeom prst="roundRect">
            <a:avLst>
              <a:gd name="adj" fmla="val 42857"/>
            </a:avLst>
          </a:prstGeom>
          <a:solidFill>
            <a:srgbClr val="FCE9E3"/>
          </a:solidFill>
          <a:ln/>
        </p:spPr>
      </p:sp>
      <p:sp>
        <p:nvSpPr>
          <p:cNvPr id="10" name="Text 8"/>
          <p:cNvSpPr/>
          <p:nvPr/>
        </p:nvSpPr>
        <p:spPr>
          <a:xfrm>
            <a:off x="2743200" y="886968"/>
            <a:ext cx="2011680" cy="320040"/>
          </a:xfrm>
          <a:prstGeom prst="rect">
            <a:avLst/>
          </a:prstGeom>
          <a:noFill/>
          <a:ln/>
        </p:spPr>
        <p:txBody>
          <a:bodyPr wrap="square" lIns="0" tIns="0" rIns="0" bIns="0" rtlCol="0" anchor="ctr"/>
          <a:lstStyle/>
          <a:p>
            <a:pPr algn="ctr" indent="0" marL="0">
              <a:buNone/>
            </a:pPr>
            <a:r>
              <a:rPr lang="en-US" sz="900" b="1" spc="300" kern="0" dirty="0">
                <a:solidFill>
                  <a:srgbClr val="F25022"/>
                </a:solidFill>
                <a:latin typeface="JetBrains Mono" pitchFamily="34" charset="0"/>
                <a:ea typeface="JetBrains Mono" pitchFamily="34" charset="-122"/>
                <a:cs typeface="JetBrains Mono" pitchFamily="34" charset="-120"/>
              </a:rPr>
              <a:t>● T-MINUS COUNTDOWN</a:t>
            </a:r>
            <a:endParaRPr lang="en-US" sz="900" dirty="0"/>
          </a:p>
        </p:txBody>
      </p:sp>
      <p:sp>
        <p:nvSpPr>
          <p:cNvPr id="11" name="Text 9"/>
          <p:cNvSpPr/>
          <p:nvPr/>
        </p:nvSpPr>
        <p:spPr>
          <a:xfrm>
            <a:off x="457200" y="1463040"/>
            <a:ext cx="11247120" cy="2011680"/>
          </a:xfrm>
          <a:prstGeom prst="rect">
            <a:avLst/>
          </a:prstGeom>
          <a:noFill/>
          <a:ln/>
        </p:spPr>
        <p:txBody>
          <a:bodyPr wrap="square" lIns="0" tIns="0" rIns="0" bIns="0" rtlCol="0" anchor="t"/>
          <a:lstStyle/>
          <a:p>
            <a:pPr indent="0" marL="0">
              <a:buNone/>
            </a:pPr>
            <a:r>
              <a:rPr lang="en-US" sz="11000" dirty="0">
                <a:solidFill>
                  <a:srgbClr val="F25022"/>
                </a:solidFill>
                <a:latin typeface="JetBrains Mono" pitchFamily="34" charset="0"/>
                <a:ea typeface="JetBrains Mono" pitchFamily="34" charset="-122"/>
                <a:cs typeface="JetBrains Mono" pitchFamily="34" charset="-120"/>
              </a:rPr>
              <a:t>2026-06-01</a:t>
            </a:r>
            <a:endParaRPr lang="en-US" sz="11000" dirty="0"/>
          </a:p>
        </p:txBody>
      </p:sp>
      <p:sp>
        <p:nvSpPr>
          <p:cNvPr id="12" name="Text 10"/>
          <p:cNvSpPr/>
          <p:nvPr/>
        </p:nvSpPr>
        <p:spPr>
          <a:xfrm>
            <a:off x="457200" y="3566160"/>
            <a:ext cx="11247120" cy="1097280"/>
          </a:xfrm>
          <a:prstGeom prst="rect">
            <a:avLst/>
          </a:prstGeom>
          <a:noFill/>
          <a:ln/>
        </p:spPr>
        <p:txBody>
          <a:bodyPr wrap="square" lIns="0" tIns="0" rIns="0" bIns="0" rtlCol="0" anchor="t"/>
          <a:lstStyle/>
          <a:p>
            <a:pPr indent="0" marL="0">
              <a:buNone/>
            </a:pPr>
            <a:r>
              <a:rPr lang="en-US" sz="2800" dirty="0">
                <a:solidFill>
                  <a:srgbClr val="1A1A19"/>
                </a:solidFill>
                <a:latin typeface="Inter" pitchFamily="34" charset="0"/>
                <a:ea typeface="Inter" pitchFamily="34" charset="-122"/>
                <a:cs typeface="Inter" pitchFamily="34" charset="-120"/>
              </a:rPr>
              <a:t>Premium Request Units são aposentados. GitHub AI Credits assumem.</a:t>
            </a:r>
            <a:endParaRPr lang="en-US" sz="2800" dirty="0"/>
          </a:p>
        </p:txBody>
      </p:sp>
      <p:sp>
        <p:nvSpPr>
          <p:cNvPr id="13" name="Text 11"/>
          <p:cNvSpPr/>
          <p:nvPr/>
        </p:nvSpPr>
        <p:spPr>
          <a:xfrm>
            <a:off x="457200" y="4663440"/>
            <a:ext cx="10515600" cy="1280160"/>
          </a:xfrm>
          <a:prstGeom prst="rect">
            <a:avLst/>
          </a:prstGeom>
          <a:noFill/>
          <a:ln/>
        </p:spPr>
        <p:txBody>
          <a:bodyPr wrap="square" lIns="0" tIns="0" rIns="0" bIns="0" rtlCol="0" anchor="t"/>
          <a:lstStyle/>
          <a:p>
            <a:pPr indent="0" marL="0">
              <a:buNone/>
            </a:pPr>
            <a:r>
              <a:rPr lang="en-US" sz="1300" dirty="0">
                <a:solidFill>
                  <a:srgbClr val="5C5A52"/>
                </a:solidFill>
                <a:latin typeface="Inter" pitchFamily="34" charset="0"/>
                <a:ea typeface="Inter" pitchFamily="34" charset="-122"/>
                <a:cs typeface="Inter" pitchFamily="34" charset="-120"/>
              </a:rPr>
              <a:t>1 AI Credit equivale a US$ 0,01. Tokens de input, output e cached são contabilizados pela taxa publicada de cada modelo na API. O custo agora está atrelado ao trabalho realizado, não à intenção do usuário.</a:t>
            </a:r>
            <a:endParaRPr lang="en-US" sz="1300" dirty="0"/>
          </a:p>
        </p:txBody>
      </p:sp>
      <p:sp>
        <p:nvSpPr>
          <p:cNvPr id="14" name="Shape 12"/>
          <p:cNvSpPr/>
          <p:nvPr/>
        </p:nvSpPr>
        <p:spPr>
          <a:xfrm>
            <a:off x="457200" y="6126480"/>
            <a:ext cx="5486400" cy="0"/>
          </a:xfrm>
          <a:prstGeom prst="line">
            <a:avLst/>
          </a:prstGeom>
          <a:noFill/>
          <a:ln w="6350">
            <a:solidFill>
              <a:srgbClr val="E8E5DC"/>
            </a:solidFill>
            <a:prstDash val="solid"/>
          </a:ln>
        </p:spPr>
      </p:sp>
      <p:sp>
        <p:nvSpPr>
          <p:cNvPr id="15" name="Text 13"/>
          <p:cNvSpPr/>
          <p:nvPr/>
        </p:nvSpPr>
        <p:spPr>
          <a:xfrm>
            <a:off x="457200" y="6263640"/>
            <a:ext cx="1371600" cy="457200"/>
          </a:xfrm>
          <a:prstGeom prst="rect">
            <a:avLst/>
          </a:prstGeom>
          <a:noFill/>
          <a:ln/>
        </p:spPr>
        <p:txBody>
          <a:bodyPr wrap="square" lIns="0" tIns="0" rIns="0" bIns="0" rtlCol="0" anchor="t"/>
          <a:lstStyle/>
          <a:p>
            <a:pPr indent="0" marL="0">
              <a:buNone/>
            </a:pPr>
            <a:r>
              <a:rPr lang="en-US" sz="800" b="1" spc="300" kern="0" dirty="0">
                <a:solidFill>
                  <a:srgbClr val="82807A"/>
                </a:solidFill>
                <a:latin typeface="JetBrains Mono" pitchFamily="34" charset="0"/>
                <a:ea typeface="JetBrains Mono" pitchFamily="34" charset="-122"/>
                <a:cs typeface="JetBrains Mono" pitchFamily="34" charset="-120"/>
              </a:rPr>
              <a:t>UNIDADE ANTIGA
</a:t>
            </a:r>
            <a:pPr indent="0" marL="0">
              <a:buNone/>
            </a:pPr>
            <a:r>
              <a:rPr lang="en-US" sz="1200" dirty="0">
                <a:solidFill>
                  <a:srgbClr val="1A1A19"/>
                </a:solidFill>
                <a:latin typeface="JetBrains Mono" pitchFamily="34" charset="0"/>
                <a:ea typeface="JetBrains Mono" pitchFamily="34" charset="-122"/>
                <a:cs typeface="JetBrains Mono" pitchFamily="34" charset="-120"/>
              </a:rPr>
              <a:t>1 PRU</a:t>
            </a:r>
            <a:endParaRPr lang="en-US" sz="800" dirty="0"/>
          </a:p>
        </p:txBody>
      </p:sp>
      <p:sp>
        <p:nvSpPr>
          <p:cNvPr id="16" name="Text 14"/>
          <p:cNvSpPr/>
          <p:nvPr/>
        </p:nvSpPr>
        <p:spPr>
          <a:xfrm>
            <a:off x="1645920" y="6355080"/>
            <a:ext cx="274320" cy="365760"/>
          </a:xfrm>
          <a:prstGeom prst="rect">
            <a:avLst/>
          </a:prstGeom>
          <a:noFill/>
          <a:ln/>
        </p:spPr>
        <p:txBody>
          <a:bodyPr wrap="square" lIns="0" tIns="0" rIns="0" bIns="0" rtlCol="0" anchor="ctr"/>
          <a:lstStyle/>
          <a:p>
            <a:pPr algn="ctr" indent="0" marL="0">
              <a:buNone/>
            </a:pPr>
            <a:r>
              <a:rPr lang="en-US" sz="1400" dirty="0">
                <a:solidFill>
                  <a:srgbClr val="82807A"/>
                </a:solidFill>
                <a:latin typeface="JetBrains Mono" pitchFamily="34" charset="0"/>
                <a:ea typeface="JetBrains Mono" pitchFamily="34" charset="-122"/>
                <a:cs typeface="JetBrains Mono" pitchFamily="34" charset="-120"/>
              </a:rPr>
              <a:t>→</a:t>
            </a:r>
            <a:endParaRPr lang="en-US" sz="1400" dirty="0"/>
          </a:p>
        </p:txBody>
      </p:sp>
      <p:sp>
        <p:nvSpPr>
          <p:cNvPr id="17" name="Text 15"/>
          <p:cNvSpPr/>
          <p:nvPr/>
        </p:nvSpPr>
        <p:spPr>
          <a:xfrm>
            <a:off x="2103120" y="6263640"/>
            <a:ext cx="2743200" cy="457200"/>
          </a:xfrm>
          <a:prstGeom prst="rect">
            <a:avLst/>
          </a:prstGeom>
          <a:noFill/>
          <a:ln/>
        </p:spPr>
        <p:txBody>
          <a:bodyPr wrap="square" lIns="0" tIns="0" rIns="0" bIns="0" rtlCol="0" anchor="t"/>
          <a:lstStyle/>
          <a:p>
            <a:pPr indent="0" marL="0">
              <a:buNone/>
            </a:pPr>
            <a:r>
              <a:rPr lang="en-US" sz="800" b="1" spc="300" kern="0" dirty="0">
                <a:solidFill>
                  <a:srgbClr val="F25022"/>
                </a:solidFill>
                <a:latin typeface="JetBrains Mono" pitchFamily="34" charset="0"/>
                <a:ea typeface="JetBrains Mono" pitchFamily="34" charset="-122"/>
                <a:cs typeface="JetBrains Mono" pitchFamily="34" charset="-120"/>
              </a:rPr>
              <a:t>UNIDADE NOVA
</a:t>
            </a:r>
            <a:pPr indent="0" marL="0">
              <a:buNone/>
            </a:pPr>
            <a:r>
              <a:rPr lang="en-US" sz="1200" dirty="0">
                <a:solidFill>
                  <a:srgbClr val="1A1A19"/>
                </a:solidFill>
                <a:latin typeface="JetBrains Mono" pitchFamily="34" charset="0"/>
                <a:ea typeface="JetBrains Mono" pitchFamily="34" charset="-122"/>
                <a:cs typeface="JetBrains Mono" pitchFamily="34" charset="-120"/>
              </a:rPr>
              <a:t>1 credit = US$ 0,01</a:t>
            </a:r>
            <a:endParaRPr lang="en-US" sz="800" dirty="0"/>
          </a:p>
        </p:txBody>
      </p:sp>
      <p:sp>
        <p:nvSpPr>
          <p:cNvPr id="18" name="Text 16"/>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FFB900"/>
                </a:solidFill>
                <a:latin typeface="JetBrains Mono" pitchFamily="34" charset="0"/>
                <a:ea typeface="JetBrains Mono" pitchFamily="34" charset="-122"/>
                <a:cs typeface="JetBrains Mono" pitchFamily="34" charset="-120"/>
              </a:rPr>
              <a:t>ANTES E DEPOIS</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600" dirty="0">
                <a:solidFill>
                  <a:srgbClr val="1A1A19"/>
                </a:solidFill>
                <a:latin typeface="Inter" pitchFamily="34" charset="0"/>
                <a:ea typeface="Inter" pitchFamily="34" charset="-122"/>
                <a:cs typeface="Inter" pitchFamily="34" charset="-120"/>
              </a:rPr>
              <a:t>A unidade de custo mudou de intenção para trabalho.</a:t>
            </a:r>
            <a:endParaRPr lang="en-US" sz="3600" dirty="0"/>
          </a:p>
        </p:txBody>
      </p:sp>
      <p:sp>
        <p:nvSpPr>
          <p:cNvPr id="10" name="Shape 8"/>
          <p:cNvSpPr/>
          <p:nvPr/>
        </p:nvSpPr>
        <p:spPr>
          <a:xfrm>
            <a:off x="457200" y="3200400"/>
            <a:ext cx="45720" cy="2743200"/>
          </a:xfrm>
          <a:prstGeom prst="rect">
            <a:avLst/>
          </a:prstGeom>
          <a:solidFill>
            <a:srgbClr val="FFB900"/>
          </a:solidFill>
          <a:ln/>
        </p:spPr>
      </p:sp>
      <p:sp>
        <p:nvSpPr>
          <p:cNvPr id="11" name="Text 9"/>
          <p:cNvSpPr/>
          <p:nvPr/>
        </p:nvSpPr>
        <p:spPr>
          <a:xfrm>
            <a:off x="731520" y="3291840"/>
            <a:ext cx="5303520" cy="274320"/>
          </a:xfrm>
          <a:prstGeom prst="rect">
            <a:avLst/>
          </a:prstGeom>
          <a:noFill/>
          <a:ln/>
        </p:spPr>
        <p:txBody>
          <a:bodyPr wrap="square" lIns="0" tIns="0" rIns="0" bIns="0" rtlCol="0" anchor="t"/>
          <a:lstStyle/>
          <a:p>
            <a:pPr indent="0" marL="0">
              <a:buNone/>
            </a:pPr>
            <a:r>
              <a:rPr lang="en-US" sz="1000" b="1" spc="400" kern="0" dirty="0">
                <a:solidFill>
                  <a:srgbClr val="FFB900"/>
                </a:solidFill>
                <a:latin typeface="JetBrains Mono" pitchFamily="34" charset="0"/>
                <a:ea typeface="JetBrains Mono" pitchFamily="34" charset="-122"/>
                <a:cs typeface="JetBrains Mono" pitchFamily="34" charset="-120"/>
              </a:rPr>
              <a:t>ANTES, PREMIUM REQUEST UNITS</a:t>
            </a:r>
            <a:endParaRPr lang="en-US" sz="1000" dirty="0"/>
          </a:p>
        </p:txBody>
      </p:sp>
      <p:sp>
        <p:nvSpPr>
          <p:cNvPr id="12" name="Text 10"/>
          <p:cNvSpPr/>
          <p:nvPr/>
        </p:nvSpPr>
        <p:spPr>
          <a:xfrm>
            <a:off x="731520" y="3657600"/>
            <a:ext cx="5303520" cy="640080"/>
          </a:xfrm>
          <a:prstGeom prst="rect">
            <a:avLst/>
          </a:prstGeom>
          <a:noFill/>
          <a:ln/>
        </p:spPr>
        <p:txBody>
          <a:bodyPr wrap="square" lIns="0" tIns="0" rIns="0" bIns="0" rtlCol="0" anchor="t"/>
          <a:lstStyle/>
          <a:p>
            <a:pPr indent="0" marL="0">
              <a:buNone/>
            </a:pPr>
            <a:r>
              <a:rPr lang="en-US" sz="2200" b="1" dirty="0">
                <a:solidFill>
                  <a:srgbClr val="1A1A19"/>
                </a:solidFill>
                <a:latin typeface="Inter" pitchFamily="34" charset="0"/>
                <a:ea typeface="Inter" pitchFamily="34" charset="-122"/>
                <a:cs typeface="Inter" pitchFamily="34" charset="-120"/>
              </a:rPr>
              <a:t>Custo por intenção do usuário</a:t>
            </a:r>
            <a:endParaRPr lang="en-US" sz="2200" dirty="0"/>
          </a:p>
        </p:txBody>
      </p:sp>
      <p:sp>
        <p:nvSpPr>
          <p:cNvPr id="13" name="Text 11"/>
          <p:cNvSpPr/>
          <p:nvPr/>
        </p:nvSpPr>
        <p:spPr>
          <a:xfrm>
            <a:off x="731520" y="4389120"/>
            <a:ext cx="5303520" cy="1463040"/>
          </a:xfrm>
          <a:prstGeom prst="rect">
            <a:avLst/>
          </a:prstGeom>
          <a:noFill/>
          <a:ln/>
        </p:spPr>
        <p:txBody>
          <a:bodyPr wrap="square" lIns="0" tIns="0" rIns="0" bIns="0" rtlCol="0" anchor="t"/>
          <a:lstStyle/>
          <a:p>
            <a:pPr indent="0" marL="0">
              <a:buNone/>
            </a:pPr>
            <a:r>
              <a:rPr lang="en-US" sz="1400" dirty="0">
                <a:solidFill>
                  <a:srgbClr val="5C5A52"/>
                </a:solidFill>
                <a:latin typeface="Inter" pitchFamily="34" charset="0"/>
                <a:ea typeface="Inter" pitchFamily="34" charset="-122"/>
                <a:cs typeface="Inter" pitchFamily="34" charset="-120"/>
              </a:rPr>
              <a:t>Uma pergunta no chat e uma sessão de agente contavam igual, uma premium request cada. Tabela de multiplicador por modelo. Fácil de orçar, mas desconectado do compute realmente consumido por trabalho agêntico.</a:t>
            </a:r>
            <a:endParaRPr lang="en-US" sz="1400" dirty="0"/>
          </a:p>
        </p:txBody>
      </p:sp>
      <p:sp>
        <p:nvSpPr>
          <p:cNvPr id="14" name="Shape 12"/>
          <p:cNvSpPr/>
          <p:nvPr/>
        </p:nvSpPr>
        <p:spPr>
          <a:xfrm>
            <a:off x="6400800" y="3200400"/>
            <a:ext cx="45720" cy="2743200"/>
          </a:xfrm>
          <a:prstGeom prst="rect">
            <a:avLst/>
          </a:prstGeom>
          <a:solidFill>
            <a:srgbClr val="00A4EF"/>
          </a:solidFill>
          <a:ln/>
        </p:spPr>
      </p:sp>
      <p:sp>
        <p:nvSpPr>
          <p:cNvPr id="15" name="Text 13"/>
          <p:cNvSpPr/>
          <p:nvPr/>
        </p:nvSpPr>
        <p:spPr>
          <a:xfrm>
            <a:off x="6675120" y="3291840"/>
            <a:ext cx="5303520" cy="274320"/>
          </a:xfrm>
          <a:prstGeom prst="rect">
            <a:avLst/>
          </a:prstGeom>
          <a:noFill/>
          <a:ln/>
        </p:spPr>
        <p:txBody>
          <a:bodyPr wrap="square" lIns="0" tIns="0" rIns="0" bIns="0" rtlCol="0" anchor="t"/>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DEPOIS, AI CREDITS</a:t>
            </a:r>
            <a:endParaRPr lang="en-US" sz="1000" dirty="0"/>
          </a:p>
        </p:txBody>
      </p:sp>
      <p:sp>
        <p:nvSpPr>
          <p:cNvPr id="16" name="Text 14"/>
          <p:cNvSpPr/>
          <p:nvPr/>
        </p:nvSpPr>
        <p:spPr>
          <a:xfrm>
            <a:off x="6675120" y="3657600"/>
            <a:ext cx="5303520" cy="640080"/>
          </a:xfrm>
          <a:prstGeom prst="rect">
            <a:avLst/>
          </a:prstGeom>
          <a:noFill/>
          <a:ln/>
        </p:spPr>
        <p:txBody>
          <a:bodyPr wrap="square" lIns="0" tIns="0" rIns="0" bIns="0" rtlCol="0" anchor="t"/>
          <a:lstStyle/>
          <a:p>
            <a:pPr indent="0" marL="0">
              <a:buNone/>
            </a:pPr>
            <a:r>
              <a:rPr lang="en-US" sz="2200" b="1" dirty="0">
                <a:solidFill>
                  <a:srgbClr val="1A1A19"/>
                </a:solidFill>
                <a:latin typeface="Inter" pitchFamily="34" charset="0"/>
                <a:ea typeface="Inter" pitchFamily="34" charset="-122"/>
                <a:cs typeface="Inter" pitchFamily="34" charset="-120"/>
              </a:rPr>
              <a:t>Custo por trabalho realizado</a:t>
            </a:r>
            <a:endParaRPr lang="en-US" sz="2200" dirty="0"/>
          </a:p>
        </p:txBody>
      </p:sp>
      <p:sp>
        <p:nvSpPr>
          <p:cNvPr id="17" name="Text 15"/>
          <p:cNvSpPr/>
          <p:nvPr/>
        </p:nvSpPr>
        <p:spPr>
          <a:xfrm>
            <a:off x="6675120" y="4389120"/>
            <a:ext cx="5303520" cy="1463040"/>
          </a:xfrm>
          <a:prstGeom prst="rect">
            <a:avLst/>
          </a:prstGeom>
          <a:noFill/>
          <a:ln/>
        </p:spPr>
        <p:txBody>
          <a:bodyPr wrap="square" lIns="0" tIns="0" rIns="0" bIns="0" rtlCol="0" anchor="t"/>
          <a:lstStyle/>
          <a:p>
            <a:pPr indent="0" marL="0">
              <a:buNone/>
            </a:pPr>
            <a:r>
              <a:rPr lang="en-US" sz="1400" dirty="0">
                <a:solidFill>
                  <a:srgbClr val="5C5A52"/>
                </a:solidFill>
                <a:latin typeface="Inter" pitchFamily="34" charset="0"/>
                <a:ea typeface="Inter" pitchFamily="34" charset="-122"/>
                <a:cs typeface="Inter" pitchFamily="34" charset="-120"/>
              </a:rPr>
              <a:t>Tokens de input, output e cached contabilizados pela taxa da API. Uma sessão agêntica de 4 horas refatorando 50 arquivos é genuinamente 100x mais cara que uma pergunta única no chat. A fatura agora reflete a realidade.</a:t>
            </a:r>
            <a:endParaRPr lang="en-US" sz="1400" dirty="0"/>
          </a:p>
        </p:txBody>
      </p:sp>
      <p:sp>
        <p:nvSpPr>
          <p:cNvPr id="18" name="Text 16"/>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0E"/>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B8B6AE"/>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2286000"/>
            <a:ext cx="3657600" cy="457200"/>
          </a:xfrm>
          <a:prstGeom prst="rect">
            <a:avLst/>
          </a:prstGeom>
          <a:noFill/>
          <a:ln/>
        </p:spPr>
        <p:txBody>
          <a:bodyPr wrap="square" lIns="0" tIns="0" rIns="0" bIns="0" rtlCol="0" anchor="ctr"/>
          <a:lstStyle/>
          <a:p>
            <a:pPr indent="0" marL="0">
              <a:buNone/>
            </a:pPr>
            <a:r>
              <a:rPr lang="en-US" sz="1400" b="1" spc="600" kern="0" dirty="0">
                <a:solidFill>
                  <a:srgbClr val="7FBA00"/>
                </a:solidFill>
                <a:latin typeface="JetBrains Mono" pitchFamily="34" charset="0"/>
                <a:ea typeface="JetBrains Mono" pitchFamily="34" charset="-122"/>
                <a:cs typeface="JetBrains Mono" pitchFamily="34" charset="-120"/>
              </a:rPr>
              <a:t>PARTE</a:t>
            </a:r>
            <a:endParaRPr lang="en-US" sz="1400" dirty="0"/>
          </a:p>
        </p:txBody>
      </p:sp>
      <p:sp>
        <p:nvSpPr>
          <p:cNvPr id="9" name="Text 7"/>
          <p:cNvSpPr/>
          <p:nvPr/>
        </p:nvSpPr>
        <p:spPr>
          <a:xfrm>
            <a:off x="457200" y="2651760"/>
            <a:ext cx="4572000" cy="2743200"/>
          </a:xfrm>
          <a:prstGeom prst="rect">
            <a:avLst/>
          </a:prstGeom>
          <a:noFill/>
          <a:ln/>
        </p:spPr>
        <p:txBody>
          <a:bodyPr wrap="square" lIns="0" tIns="0" rIns="0" bIns="0" rtlCol="0" anchor="t"/>
          <a:lstStyle/>
          <a:p>
            <a:pPr indent="0" marL="0">
              <a:buNone/>
            </a:pPr>
            <a:r>
              <a:rPr lang="en-US" sz="14000" b="1" dirty="0">
                <a:solidFill>
                  <a:srgbClr val="7FBA00"/>
                </a:solidFill>
                <a:latin typeface="Inter" pitchFamily="34" charset="0"/>
                <a:ea typeface="Inter" pitchFamily="34" charset="-122"/>
                <a:cs typeface="Inter" pitchFamily="34" charset="-120"/>
              </a:rPr>
              <a:t>02</a:t>
            </a:r>
            <a:endParaRPr lang="en-US" sz="14000" dirty="0"/>
          </a:p>
        </p:txBody>
      </p:sp>
      <p:sp>
        <p:nvSpPr>
          <p:cNvPr id="10" name="Text 8"/>
          <p:cNvSpPr/>
          <p:nvPr/>
        </p:nvSpPr>
        <p:spPr>
          <a:xfrm>
            <a:off x="5486400" y="3200400"/>
            <a:ext cx="6400800" cy="914400"/>
          </a:xfrm>
          <a:prstGeom prst="rect">
            <a:avLst/>
          </a:prstGeom>
          <a:noFill/>
          <a:ln/>
        </p:spPr>
        <p:txBody>
          <a:bodyPr wrap="square" lIns="0" tIns="0" rIns="0" bIns="0" rtlCol="0" anchor="t"/>
          <a:lstStyle/>
          <a:p>
            <a:pPr indent="0" marL="0">
              <a:buNone/>
            </a:pPr>
            <a:r>
              <a:rPr lang="en-US" sz="5000" dirty="0">
                <a:solidFill>
                  <a:srgbClr val="F0F0EB"/>
                </a:solidFill>
                <a:latin typeface="Inter" pitchFamily="34" charset="0"/>
                <a:ea typeface="Inter" pitchFamily="34" charset="-122"/>
                <a:cs typeface="Inter" pitchFamily="34" charset="-120"/>
              </a:rPr>
              <a:t>Fundamentos.</a:t>
            </a:r>
            <a:endParaRPr lang="en-US" sz="5000" dirty="0"/>
          </a:p>
        </p:txBody>
      </p:sp>
      <p:sp>
        <p:nvSpPr>
          <p:cNvPr id="11" name="Text 9"/>
          <p:cNvSpPr/>
          <p:nvPr/>
        </p:nvSpPr>
        <p:spPr>
          <a:xfrm>
            <a:off x="5486400" y="4297680"/>
            <a:ext cx="6400800" cy="1371600"/>
          </a:xfrm>
          <a:prstGeom prst="rect">
            <a:avLst/>
          </a:prstGeom>
          <a:noFill/>
          <a:ln/>
        </p:spPr>
        <p:txBody>
          <a:bodyPr wrap="square" lIns="0" tIns="0" rIns="0" bIns="0" rtlCol="0" anchor="t"/>
          <a:lstStyle/>
          <a:p>
            <a:pPr indent="0" marL="0">
              <a:buNone/>
            </a:pPr>
            <a:r>
              <a:rPr lang="en-US" sz="1500" dirty="0">
                <a:solidFill>
                  <a:srgbClr val="B8B6AE"/>
                </a:solidFill>
                <a:latin typeface="Inter" pitchFamily="34" charset="0"/>
                <a:ea typeface="Inter" pitchFamily="34" charset="-122"/>
                <a:cs typeface="Inter" pitchFamily="34" charset="-120"/>
              </a:rPr>
              <a:t>O que é um token, onde o custo realmente mora, e por que context engineering é a alavanca.</a:t>
            </a:r>
            <a:endParaRPr lang="en-US" sz="1500" dirty="0"/>
          </a:p>
        </p:txBody>
      </p:sp>
      <p:sp>
        <p:nvSpPr>
          <p:cNvPr id="12" name="Text 1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A UNIDADE</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200" dirty="0">
                <a:solidFill>
                  <a:srgbClr val="1A1A19"/>
                </a:solidFill>
                <a:latin typeface="Inter" pitchFamily="34" charset="0"/>
                <a:ea typeface="Inter" pitchFamily="34" charset="-122"/>
                <a:cs typeface="Inter" pitchFamily="34" charset="-120"/>
              </a:rPr>
              <a:t>Um token não é uma palavra. É um fragmento de palavra.</a:t>
            </a:r>
            <a:endParaRPr lang="en-US" sz="3200" dirty="0"/>
          </a:p>
        </p:txBody>
      </p:sp>
      <p:sp>
        <p:nvSpPr>
          <p:cNvPr id="10" name="Shape 8"/>
          <p:cNvSpPr/>
          <p:nvPr/>
        </p:nvSpPr>
        <p:spPr>
          <a:xfrm>
            <a:off x="472288" y="3840480"/>
            <a:ext cx="3566160" cy="2286000"/>
          </a:xfrm>
          <a:prstGeom prst="rect">
            <a:avLst/>
          </a:prstGeom>
          <a:solidFill>
            <a:srgbClr val="F8F7F2"/>
          </a:solidFill>
          <a:ln w="6350">
            <a:solidFill>
              <a:srgbClr val="E8E5DC"/>
            </a:solidFill>
            <a:prstDash val="solid"/>
          </a:ln>
        </p:spPr>
      </p:sp>
      <p:sp>
        <p:nvSpPr>
          <p:cNvPr id="11" name="Shape 9"/>
          <p:cNvSpPr/>
          <p:nvPr/>
        </p:nvSpPr>
        <p:spPr>
          <a:xfrm>
            <a:off x="472288" y="3840480"/>
            <a:ext cx="3566160" cy="54864"/>
          </a:xfrm>
          <a:prstGeom prst="rect">
            <a:avLst/>
          </a:prstGeom>
          <a:solidFill>
            <a:srgbClr val="00A4EF"/>
          </a:solidFill>
          <a:ln/>
        </p:spPr>
      </p:sp>
      <p:sp>
        <p:nvSpPr>
          <p:cNvPr id="12" name="Text 10"/>
          <p:cNvSpPr/>
          <p:nvPr/>
        </p:nvSpPr>
        <p:spPr>
          <a:xfrm>
            <a:off x="746608" y="4069080"/>
            <a:ext cx="914400" cy="320040"/>
          </a:xfrm>
          <a:prstGeom prst="rect">
            <a:avLst/>
          </a:prstGeom>
          <a:noFill/>
          <a:ln/>
        </p:spPr>
        <p:txBody>
          <a:bodyPr wrap="square" lIns="0" tIns="0" rIns="0" bIns="0" rtlCol="0" anchor="t"/>
          <a:lstStyle/>
          <a:p>
            <a:pPr indent="0" marL="0">
              <a:buNone/>
            </a:pPr>
            <a:r>
              <a:rPr lang="en-US" sz="1000" b="1" spc="300" kern="0" dirty="0">
                <a:solidFill>
                  <a:srgbClr val="00A4EF"/>
                </a:solidFill>
                <a:latin typeface="JetBrains Mono" pitchFamily="34" charset="0"/>
                <a:ea typeface="JetBrains Mono" pitchFamily="34" charset="-122"/>
                <a:cs typeface="JetBrains Mono" pitchFamily="34" charset="-120"/>
              </a:rPr>
              <a:t>01</a:t>
            </a:r>
            <a:endParaRPr lang="en-US" sz="1000" dirty="0"/>
          </a:p>
        </p:txBody>
      </p:sp>
      <p:sp>
        <p:nvSpPr>
          <p:cNvPr id="13" name="Text 11"/>
          <p:cNvSpPr/>
          <p:nvPr/>
        </p:nvSpPr>
        <p:spPr>
          <a:xfrm>
            <a:off x="746608" y="4389120"/>
            <a:ext cx="3017520" cy="640080"/>
          </a:xfrm>
          <a:prstGeom prst="rect">
            <a:avLst/>
          </a:prstGeom>
          <a:noFill/>
          <a:ln/>
        </p:spPr>
        <p:txBody>
          <a:bodyPr wrap="square" lIns="0" tIns="0" rIns="0" bIns="0" rtlCol="0" anchor="t"/>
          <a:lstStyle/>
          <a:p>
            <a:pPr indent="0" marL="0">
              <a:buNone/>
            </a:pPr>
            <a:r>
              <a:rPr lang="en-US" sz="1800" b="1" dirty="0">
                <a:solidFill>
                  <a:srgbClr val="1A1A19"/>
                </a:solidFill>
                <a:latin typeface="Inter" pitchFamily="34" charset="0"/>
                <a:ea typeface="Inter" pitchFamily="34" charset="-122"/>
                <a:cs typeface="Inter" pitchFamily="34" charset="-120"/>
              </a:rPr>
              <a:t>Tokenização por subpalavras</a:t>
            </a:r>
            <a:endParaRPr lang="en-US" sz="1800" dirty="0"/>
          </a:p>
        </p:txBody>
      </p:sp>
      <p:sp>
        <p:nvSpPr>
          <p:cNvPr id="14" name="Text 12"/>
          <p:cNvSpPr/>
          <p:nvPr/>
        </p:nvSpPr>
        <p:spPr>
          <a:xfrm>
            <a:off x="746608" y="5120640"/>
            <a:ext cx="3017520" cy="914400"/>
          </a:xfrm>
          <a:prstGeom prst="rect">
            <a:avLst/>
          </a:prstGeom>
          <a:noFill/>
          <a:ln/>
        </p:spPr>
        <p:txBody>
          <a:bodyPr wrap="square" lIns="0" tIns="0" rIns="0" bIns="0" rtlCol="0" anchor="t"/>
          <a:lstStyle/>
          <a:p>
            <a:pPr indent="0" marL="0">
              <a:buNone/>
            </a:pPr>
            <a:r>
              <a:rPr lang="en-US" sz="1200" dirty="0">
                <a:solidFill>
                  <a:srgbClr val="5C5A52"/>
                </a:solidFill>
                <a:latin typeface="Inter" pitchFamily="34" charset="0"/>
                <a:ea typeface="Inter" pitchFamily="34" charset="-122"/>
                <a:cs typeface="Inter" pitchFamily="34" charset="-120"/>
              </a:rPr>
              <a:t>Inglês em média 1,3 tokens por palavra. Português e espanhol rodam 1,5 a 1,7. Código tokeniza em densidade variável, depende da linguagem e do formato.</a:t>
            </a:r>
            <a:endParaRPr lang="en-US" sz="1200" dirty="0"/>
          </a:p>
        </p:txBody>
      </p:sp>
      <p:sp>
        <p:nvSpPr>
          <p:cNvPr id="15" name="Shape 13"/>
          <p:cNvSpPr/>
          <p:nvPr/>
        </p:nvSpPr>
        <p:spPr>
          <a:xfrm>
            <a:off x="4312768" y="3840480"/>
            <a:ext cx="3566160" cy="2286000"/>
          </a:xfrm>
          <a:prstGeom prst="rect">
            <a:avLst/>
          </a:prstGeom>
          <a:solidFill>
            <a:srgbClr val="F8F7F2"/>
          </a:solidFill>
          <a:ln w="6350">
            <a:solidFill>
              <a:srgbClr val="E8E5DC"/>
            </a:solidFill>
            <a:prstDash val="solid"/>
          </a:ln>
        </p:spPr>
      </p:sp>
      <p:sp>
        <p:nvSpPr>
          <p:cNvPr id="16" name="Shape 14"/>
          <p:cNvSpPr/>
          <p:nvPr/>
        </p:nvSpPr>
        <p:spPr>
          <a:xfrm>
            <a:off x="4312768" y="3840480"/>
            <a:ext cx="3566160" cy="54864"/>
          </a:xfrm>
          <a:prstGeom prst="rect">
            <a:avLst/>
          </a:prstGeom>
          <a:solidFill>
            <a:srgbClr val="7FBA00"/>
          </a:solidFill>
          <a:ln/>
        </p:spPr>
      </p:sp>
      <p:sp>
        <p:nvSpPr>
          <p:cNvPr id="17" name="Text 15"/>
          <p:cNvSpPr/>
          <p:nvPr/>
        </p:nvSpPr>
        <p:spPr>
          <a:xfrm>
            <a:off x="4587088" y="4069080"/>
            <a:ext cx="914400" cy="320040"/>
          </a:xfrm>
          <a:prstGeom prst="rect">
            <a:avLst/>
          </a:prstGeom>
          <a:noFill/>
          <a:ln/>
        </p:spPr>
        <p:txBody>
          <a:bodyPr wrap="square" lIns="0" tIns="0" rIns="0" bIns="0" rtlCol="0" anchor="t"/>
          <a:lstStyle/>
          <a:p>
            <a:pPr indent="0" marL="0">
              <a:buNone/>
            </a:pPr>
            <a:r>
              <a:rPr lang="en-US" sz="1000" b="1" spc="300" kern="0" dirty="0">
                <a:solidFill>
                  <a:srgbClr val="7FBA00"/>
                </a:solidFill>
                <a:latin typeface="JetBrains Mono" pitchFamily="34" charset="0"/>
                <a:ea typeface="JetBrains Mono" pitchFamily="34" charset="-122"/>
                <a:cs typeface="JetBrains Mono" pitchFamily="34" charset="-120"/>
              </a:rPr>
              <a:t>02</a:t>
            </a:r>
            <a:endParaRPr lang="en-US" sz="1000" dirty="0"/>
          </a:p>
        </p:txBody>
      </p:sp>
      <p:sp>
        <p:nvSpPr>
          <p:cNvPr id="18" name="Text 16"/>
          <p:cNvSpPr/>
          <p:nvPr/>
        </p:nvSpPr>
        <p:spPr>
          <a:xfrm>
            <a:off x="4587088" y="4389120"/>
            <a:ext cx="3017520" cy="640080"/>
          </a:xfrm>
          <a:prstGeom prst="rect">
            <a:avLst/>
          </a:prstGeom>
          <a:noFill/>
          <a:ln/>
        </p:spPr>
        <p:txBody>
          <a:bodyPr wrap="square" lIns="0" tIns="0" rIns="0" bIns="0" rtlCol="0" anchor="t"/>
          <a:lstStyle/>
          <a:p>
            <a:pPr indent="0" marL="0">
              <a:buNone/>
            </a:pPr>
            <a:r>
              <a:rPr lang="en-US" sz="1800" b="1" dirty="0">
                <a:solidFill>
                  <a:srgbClr val="1A1A19"/>
                </a:solidFill>
                <a:latin typeface="Inter" pitchFamily="34" charset="0"/>
                <a:ea typeface="Inter" pitchFamily="34" charset="-122"/>
                <a:cs typeface="Inter" pitchFamily="34" charset="-120"/>
              </a:rPr>
              <a:t>Janela de contexto</a:t>
            </a:r>
            <a:endParaRPr lang="en-US" sz="1800" dirty="0"/>
          </a:p>
        </p:txBody>
      </p:sp>
      <p:sp>
        <p:nvSpPr>
          <p:cNvPr id="19" name="Text 17"/>
          <p:cNvSpPr/>
          <p:nvPr/>
        </p:nvSpPr>
        <p:spPr>
          <a:xfrm>
            <a:off x="4587088" y="5120640"/>
            <a:ext cx="3017520" cy="914400"/>
          </a:xfrm>
          <a:prstGeom prst="rect">
            <a:avLst/>
          </a:prstGeom>
          <a:noFill/>
          <a:ln/>
        </p:spPr>
        <p:txBody>
          <a:bodyPr wrap="square" lIns="0" tIns="0" rIns="0" bIns="0" rtlCol="0" anchor="t"/>
          <a:lstStyle/>
          <a:p>
            <a:pPr indent="0" marL="0">
              <a:buNone/>
            </a:pPr>
            <a:r>
              <a:rPr lang="en-US" sz="1200" dirty="0">
                <a:solidFill>
                  <a:srgbClr val="5C5A52"/>
                </a:solidFill>
                <a:latin typeface="Inter" pitchFamily="34" charset="0"/>
                <a:ea typeface="Inter" pitchFamily="34" charset="-122"/>
                <a:cs typeface="Inter" pitchFamily="34" charset="-120"/>
              </a:rPr>
              <a:t>O total de tokens que um modelo processa em uma única chamada. Volátil, não persistente. Cada turno reconstrói a janela a partir de system, tools, histórico e mensagem.</a:t>
            </a:r>
            <a:endParaRPr lang="en-US" sz="1200" dirty="0"/>
          </a:p>
        </p:txBody>
      </p:sp>
      <p:sp>
        <p:nvSpPr>
          <p:cNvPr id="20" name="Shape 18"/>
          <p:cNvSpPr/>
          <p:nvPr/>
        </p:nvSpPr>
        <p:spPr>
          <a:xfrm>
            <a:off x="8153248" y="3840480"/>
            <a:ext cx="3566160" cy="2286000"/>
          </a:xfrm>
          <a:prstGeom prst="rect">
            <a:avLst/>
          </a:prstGeom>
          <a:solidFill>
            <a:srgbClr val="F8F7F2"/>
          </a:solidFill>
          <a:ln w="6350">
            <a:solidFill>
              <a:srgbClr val="E8E5DC"/>
            </a:solidFill>
            <a:prstDash val="solid"/>
          </a:ln>
        </p:spPr>
      </p:sp>
      <p:sp>
        <p:nvSpPr>
          <p:cNvPr id="21" name="Shape 19"/>
          <p:cNvSpPr/>
          <p:nvPr/>
        </p:nvSpPr>
        <p:spPr>
          <a:xfrm>
            <a:off x="8153248" y="3840480"/>
            <a:ext cx="3566160" cy="54864"/>
          </a:xfrm>
          <a:prstGeom prst="rect">
            <a:avLst/>
          </a:prstGeom>
          <a:solidFill>
            <a:srgbClr val="FFB900"/>
          </a:solidFill>
          <a:ln/>
        </p:spPr>
      </p:sp>
      <p:sp>
        <p:nvSpPr>
          <p:cNvPr id="22" name="Text 20"/>
          <p:cNvSpPr/>
          <p:nvPr/>
        </p:nvSpPr>
        <p:spPr>
          <a:xfrm>
            <a:off x="8427568" y="4069080"/>
            <a:ext cx="914400" cy="320040"/>
          </a:xfrm>
          <a:prstGeom prst="rect">
            <a:avLst/>
          </a:prstGeom>
          <a:noFill/>
          <a:ln/>
        </p:spPr>
        <p:txBody>
          <a:bodyPr wrap="square" lIns="0" tIns="0" rIns="0" bIns="0" rtlCol="0" anchor="t"/>
          <a:lstStyle/>
          <a:p>
            <a:pPr indent="0" marL="0">
              <a:buNone/>
            </a:pPr>
            <a:r>
              <a:rPr lang="en-US" sz="1000" b="1" spc="300" kern="0" dirty="0">
                <a:solidFill>
                  <a:srgbClr val="FFB900"/>
                </a:solidFill>
                <a:latin typeface="JetBrains Mono" pitchFamily="34" charset="0"/>
                <a:ea typeface="JetBrains Mono" pitchFamily="34" charset="-122"/>
                <a:cs typeface="JetBrains Mono" pitchFamily="34" charset="-120"/>
              </a:rPr>
              <a:t>03</a:t>
            </a:r>
            <a:endParaRPr lang="en-US" sz="1000" dirty="0"/>
          </a:p>
        </p:txBody>
      </p:sp>
      <p:sp>
        <p:nvSpPr>
          <p:cNvPr id="23" name="Text 21"/>
          <p:cNvSpPr/>
          <p:nvPr/>
        </p:nvSpPr>
        <p:spPr>
          <a:xfrm>
            <a:off x="8427568" y="4389120"/>
            <a:ext cx="3017520" cy="640080"/>
          </a:xfrm>
          <a:prstGeom prst="rect">
            <a:avLst/>
          </a:prstGeom>
          <a:noFill/>
          <a:ln/>
        </p:spPr>
        <p:txBody>
          <a:bodyPr wrap="square" lIns="0" tIns="0" rIns="0" bIns="0" rtlCol="0" anchor="t"/>
          <a:lstStyle/>
          <a:p>
            <a:pPr indent="0" marL="0">
              <a:buNone/>
            </a:pPr>
            <a:r>
              <a:rPr lang="en-US" sz="1800" b="1" dirty="0">
                <a:solidFill>
                  <a:srgbClr val="1A1A19"/>
                </a:solidFill>
                <a:latin typeface="Inter" pitchFamily="34" charset="0"/>
                <a:ea typeface="Inter" pitchFamily="34" charset="-122"/>
                <a:cs typeface="Inter" pitchFamily="34" charset="-120"/>
              </a:rPr>
              <a:t>Tokens são cobrados</a:t>
            </a:r>
            <a:endParaRPr lang="en-US" sz="1800" dirty="0"/>
          </a:p>
        </p:txBody>
      </p:sp>
      <p:sp>
        <p:nvSpPr>
          <p:cNvPr id="24" name="Text 22"/>
          <p:cNvSpPr/>
          <p:nvPr/>
        </p:nvSpPr>
        <p:spPr>
          <a:xfrm>
            <a:off x="8427568" y="5120640"/>
            <a:ext cx="3017520" cy="914400"/>
          </a:xfrm>
          <a:prstGeom prst="rect">
            <a:avLst/>
          </a:prstGeom>
          <a:noFill/>
          <a:ln/>
        </p:spPr>
        <p:txBody>
          <a:bodyPr wrap="square" lIns="0" tIns="0" rIns="0" bIns="0" rtlCol="0" anchor="t"/>
          <a:lstStyle/>
          <a:p>
            <a:pPr indent="0" marL="0">
              <a:buNone/>
            </a:pPr>
            <a:r>
              <a:rPr lang="en-US" sz="1200" dirty="0">
                <a:solidFill>
                  <a:srgbClr val="5C5A52"/>
                </a:solidFill>
                <a:latin typeface="Inter" pitchFamily="34" charset="0"/>
                <a:ea typeface="Inter" pitchFamily="34" charset="-122"/>
                <a:cs typeface="Inter" pitchFamily="34" charset="-120"/>
              </a:rPr>
              <a:t>Cada fragmento que entra, cada fragmento que sai, cada fragmento mantido em cache. Sob AI Credits, isso mapeia diretamente em dólares na fatura.</a:t>
            </a:r>
            <a:endParaRPr lang="en-US" sz="1200" dirty="0"/>
          </a:p>
        </p:txBody>
      </p:sp>
      <p:sp>
        <p:nvSpPr>
          <p:cNvPr id="25" name="Text 23"/>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TRÊS CLASSES DE TOKEN, TRÊS TAXAS</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200" dirty="0">
                <a:solidFill>
                  <a:srgbClr val="1A1A19"/>
                </a:solidFill>
                <a:latin typeface="Inter" pitchFamily="34" charset="0"/>
                <a:ea typeface="Inter" pitchFamily="34" charset="-122"/>
                <a:cs typeface="Inter" pitchFamily="34" charset="-120"/>
              </a:rPr>
              <a:t>Tokens de output custam tipicamente 3 a 5 vezes mais que input.</a:t>
            </a:r>
            <a:endParaRPr lang="en-US" sz="3200" dirty="0"/>
          </a:p>
        </p:txBody>
      </p:sp>
      <p:graphicFrame>
        <p:nvGraphicFramePr>
          <p:cNvPr id="10" name="Chart 0" descr=""/>
          <p:cNvGraphicFramePr/>
          <p:nvPr/>
        </p:nvGraphicFramePr>
        <p:xfrm>
          <a:off x="640080" y="3108960"/>
          <a:ext cx="3200400" cy="32004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640080" y="2834640"/>
            <a:ext cx="3200400" cy="274320"/>
          </a:xfrm>
          <a:prstGeom prst="rect">
            <a:avLst/>
          </a:prstGeom>
          <a:noFill/>
          <a:ln/>
        </p:spPr>
        <p:txBody>
          <a:bodyPr wrap="square" lIns="0" tIns="0" rIns="0" bIns="0" rtlCol="0" anchor="ctr"/>
          <a:lstStyle/>
          <a:p>
            <a:pPr algn="ctr" indent="0" marL="0">
              <a:buNone/>
            </a:pPr>
            <a:r>
              <a:rPr lang="en-US" sz="900" spc="200" kern="0" dirty="0">
                <a:solidFill>
                  <a:srgbClr val="82807A"/>
                </a:solidFill>
                <a:latin typeface="JetBrains Mono" pitchFamily="34" charset="0"/>
                <a:ea typeface="JetBrains Mono" pitchFamily="34" charset="-122"/>
                <a:cs typeface="JetBrains Mono" pitchFamily="34" charset="-120"/>
              </a:rPr>
              <a:t>Mix típico de custo em sessão agêntica</a:t>
            </a:r>
            <a:endParaRPr lang="en-US" sz="900" dirty="0"/>
          </a:p>
        </p:txBody>
      </p:sp>
      <p:sp>
        <p:nvSpPr>
          <p:cNvPr id="12" name="Shape 9"/>
          <p:cNvSpPr/>
          <p:nvPr/>
        </p:nvSpPr>
        <p:spPr>
          <a:xfrm>
            <a:off x="4572000" y="3200400"/>
            <a:ext cx="7132320" cy="960120"/>
          </a:xfrm>
          <a:prstGeom prst="rect">
            <a:avLst/>
          </a:prstGeom>
          <a:solidFill>
            <a:srgbClr val="F8F7F2"/>
          </a:solidFill>
          <a:ln/>
        </p:spPr>
      </p:sp>
      <p:sp>
        <p:nvSpPr>
          <p:cNvPr id="13" name="Shape 10"/>
          <p:cNvSpPr/>
          <p:nvPr/>
        </p:nvSpPr>
        <p:spPr>
          <a:xfrm>
            <a:off x="4572000" y="3200400"/>
            <a:ext cx="45720" cy="960120"/>
          </a:xfrm>
          <a:prstGeom prst="rect">
            <a:avLst/>
          </a:prstGeom>
          <a:solidFill>
            <a:srgbClr val="00A4EF"/>
          </a:solidFill>
          <a:ln/>
        </p:spPr>
      </p:sp>
      <p:sp>
        <p:nvSpPr>
          <p:cNvPr id="14" name="Text 11"/>
          <p:cNvSpPr/>
          <p:nvPr/>
        </p:nvSpPr>
        <p:spPr>
          <a:xfrm>
            <a:off x="4800600" y="3337560"/>
            <a:ext cx="1371600" cy="228600"/>
          </a:xfrm>
          <a:prstGeom prst="rect">
            <a:avLst/>
          </a:prstGeom>
          <a:noFill/>
          <a:ln/>
        </p:spPr>
        <p:txBody>
          <a:bodyPr wrap="square" lIns="0" tIns="0" rIns="0" bIns="0" rtlCol="0" anchor="t"/>
          <a:lstStyle/>
          <a:p>
            <a:pPr indent="0" marL="0">
              <a:buNone/>
            </a:pPr>
            <a:r>
              <a:rPr lang="en-US" sz="900" b="1" spc="300" kern="0" dirty="0">
                <a:solidFill>
                  <a:srgbClr val="00A4EF"/>
                </a:solidFill>
                <a:latin typeface="JetBrains Mono" pitchFamily="34" charset="0"/>
                <a:ea typeface="JetBrains Mono" pitchFamily="34" charset="-122"/>
                <a:cs typeface="JetBrains Mono" pitchFamily="34" charset="-120"/>
              </a:rPr>
              <a:t>CLASSE 1</a:t>
            </a:r>
            <a:endParaRPr lang="en-US" sz="900" dirty="0"/>
          </a:p>
        </p:txBody>
      </p:sp>
      <p:sp>
        <p:nvSpPr>
          <p:cNvPr id="15" name="Text 12"/>
          <p:cNvSpPr/>
          <p:nvPr/>
        </p:nvSpPr>
        <p:spPr>
          <a:xfrm>
            <a:off x="4800600" y="3566160"/>
            <a:ext cx="1554480" cy="36576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Tokens de input</a:t>
            </a:r>
            <a:endParaRPr lang="en-US" sz="1400" dirty="0"/>
          </a:p>
        </p:txBody>
      </p:sp>
      <p:sp>
        <p:nvSpPr>
          <p:cNvPr id="16" name="Text 13"/>
          <p:cNvSpPr/>
          <p:nvPr/>
        </p:nvSpPr>
        <p:spPr>
          <a:xfrm>
            <a:off x="6400800" y="3337560"/>
            <a:ext cx="5120640" cy="68580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Tudo enviado ao modelo: system prompt, definições de tools, histórico da conversa, mensagem atual. Custo base. Cada turno paga pelo contexto inteiro, não só pela mensagem nova.</a:t>
            </a:r>
            <a:endParaRPr lang="en-US" sz="1100" dirty="0"/>
          </a:p>
        </p:txBody>
      </p:sp>
      <p:sp>
        <p:nvSpPr>
          <p:cNvPr id="17" name="Shape 14"/>
          <p:cNvSpPr/>
          <p:nvPr/>
        </p:nvSpPr>
        <p:spPr>
          <a:xfrm>
            <a:off x="4572000" y="4233672"/>
            <a:ext cx="7132320" cy="960120"/>
          </a:xfrm>
          <a:prstGeom prst="rect">
            <a:avLst/>
          </a:prstGeom>
          <a:solidFill>
            <a:srgbClr val="F8F7F2"/>
          </a:solidFill>
          <a:ln/>
        </p:spPr>
      </p:sp>
      <p:sp>
        <p:nvSpPr>
          <p:cNvPr id="18" name="Shape 15"/>
          <p:cNvSpPr/>
          <p:nvPr/>
        </p:nvSpPr>
        <p:spPr>
          <a:xfrm>
            <a:off x="4572000" y="4233672"/>
            <a:ext cx="45720" cy="960120"/>
          </a:xfrm>
          <a:prstGeom prst="rect">
            <a:avLst/>
          </a:prstGeom>
          <a:solidFill>
            <a:srgbClr val="F25022"/>
          </a:solidFill>
          <a:ln/>
        </p:spPr>
      </p:sp>
      <p:sp>
        <p:nvSpPr>
          <p:cNvPr id="19" name="Text 16"/>
          <p:cNvSpPr/>
          <p:nvPr/>
        </p:nvSpPr>
        <p:spPr>
          <a:xfrm>
            <a:off x="4800600" y="4370832"/>
            <a:ext cx="1371600" cy="228600"/>
          </a:xfrm>
          <a:prstGeom prst="rect">
            <a:avLst/>
          </a:prstGeom>
          <a:noFill/>
          <a:ln/>
        </p:spPr>
        <p:txBody>
          <a:bodyPr wrap="square" lIns="0" tIns="0" rIns="0" bIns="0" rtlCol="0" anchor="t"/>
          <a:lstStyle/>
          <a:p>
            <a:pPr indent="0" marL="0">
              <a:buNone/>
            </a:pPr>
            <a:r>
              <a:rPr lang="en-US" sz="900" b="1" spc="300" kern="0" dirty="0">
                <a:solidFill>
                  <a:srgbClr val="F25022"/>
                </a:solidFill>
                <a:latin typeface="JetBrains Mono" pitchFamily="34" charset="0"/>
                <a:ea typeface="JetBrains Mono" pitchFamily="34" charset="-122"/>
                <a:cs typeface="JetBrains Mono" pitchFamily="34" charset="-120"/>
              </a:rPr>
              <a:t>CLASSE 2</a:t>
            </a:r>
            <a:endParaRPr lang="en-US" sz="900" dirty="0"/>
          </a:p>
        </p:txBody>
      </p:sp>
      <p:sp>
        <p:nvSpPr>
          <p:cNvPr id="20" name="Text 17"/>
          <p:cNvSpPr/>
          <p:nvPr/>
        </p:nvSpPr>
        <p:spPr>
          <a:xfrm>
            <a:off x="4800600" y="4599432"/>
            <a:ext cx="1554480" cy="36576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Tokens de output</a:t>
            </a:r>
            <a:endParaRPr lang="en-US" sz="1400" dirty="0"/>
          </a:p>
        </p:txBody>
      </p:sp>
      <p:sp>
        <p:nvSpPr>
          <p:cNvPr id="21" name="Text 18"/>
          <p:cNvSpPr/>
          <p:nvPr/>
        </p:nvSpPr>
        <p:spPr>
          <a:xfrm>
            <a:off x="6400800" y="4370832"/>
            <a:ext cx="5120640" cy="68580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Tudo que o modelo gera. Taxa premium. Um modelo verboso em modo agêntico pode produzir 10.000+ tokens de output por turno. É aqui que o custo da sessão realmente acumula.</a:t>
            </a:r>
            <a:endParaRPr lang="en-US" sz="1100" dirty="0"/>
          </a:p>
        </p:txBody>
      </p:sp>
      <p:sp>
        <p:nvSpPr>
          <p:cNvPr id="22" name="Shape 19"/>
          <p:cNvSpPr/>
          <p:nvPr/>
        </p:nvSpPr>
        <p:spPr>
          <a:xfrm>
            <a:off x="4572000" y="5266944"/>
            <a:ext cx="7132320" cy="960120"/>
          </a:xfrm>
          <a:prstGeom prst="rect">
            <a:avLst/>
          </a:prstGeom>
          <a:solidFill>
            <a:srgbClr val="F8F7F2"/>
          </a:solidFill>
          <a:ln/>
        </p:spPr>
      </p:sp>
      <p:sp>
        <p:nvSpPr>
          <p:cNvPr id="23" name="Shape 20"/>
          <p:cNvSpPr/>
          <p:nvPr/>
        </p:nvSpPr>
        <p:spPr>
          <a:xfrm>
            <a:off x="4572000" y="5266944"/>
            <a:ext cx="45720" cy="960120"/>
          </a:xfrm>
          <a:prstGeom prst="rect">
            <a:avLst/>
          </a:prstGeom>
          <a:solidFill>
            <a:srgbClr val="7FBA00"/>
          </a:solidFill>
          <a:ln/>
        </p:spPr>
      </p:sp>
      <p:sp>
        <p:nvSpPr>
          <p:cNvPr id="24" name="Text 21"/>
          <p:cNvSpPr/>
          <p:nvPr/>
        </p:nvSpPr>
        <p:spPr>
          <a:xfrm>
            <a:off x="4800600" y="5404104"/>
            <a:ext cx="1371600" cy="228600"/>
          </a:xfrm>
          <a:prstGeom prst="rect">
            <a:avLst/>
          </a:prstGeom>
          <a:noFill/>
          <a:ln/>
        </p:spPr>
        <p:txBody>
          <a:bodyPr wrap="square" lIns="0" tIns="0" rIns="0" bIns="0" rtlCol="0" anchor="t"/>
          <a:lstStyle/>
          <a:p>
            <a:pPr indent="0" marL="0">
              <a:buNone/>
            </a:pPr>
            <a:r>
              <a:rPr lang="en-US" sz="900" b="1" spc="300" kern="0" dirty="0">
                <a:solidFill>
                  <a:srgbClr val="7FBA00"/>
                </a:solidFill>
                <a:latin typeface="JetBrains Mono" pitchFamily="34" charset="0"/>
                <a:ea typeface="JetBrains Mono" pitchFamily="34" charset="-122"/>
                <a:cs typeface="JetBrains Mono" pitchFamily="34" charset="-120"/>
              </a:rPr>
              <a:t>CLASSE 3</a:t>
            </a:r>
            <a:endParaRPr lang="en-US" sz="900" dirty="0"/>
          </a:p>
        </p:txBody>
      </p:sp>
      <p:sp>
        <p:nvSpPr>
          <p:cNvPr id="25" name="Text 22"/>
          <p:cNvSpPr/>
          <p:nvPr/>
        </p:nvSpPr>
        <p:spPr>
          <a:xfrm>
            <a:off x="4800600" y="5632704"/>
            <a:ext cx="1554480" cy="36576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Tokens cached</a:t>
            </a:r>
            <a:endParaRPr lang="en-US" sz="1400" dirty="0"/>
          </a:p>
        </p:txBody>
      </p:sp>
      <p:sp>
        <p:nvSpPr>
          <p:cNvPr id="26" name="Text 23"/>
          <p:cNvSpPr/>
          <p:nvPr/>
        </p:nvSpPr>
        <p:spPr>
          <a:xfrm>
            <a:off x="6400800" y="5404104"/>
            <a:ext cx="5120640" cy="68580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Tokens cujo KV cache foi computado em uma chamada anterior e está sendo reusado. Preço típico de 10 por cento da taxa de input. Prompt caching é a maior alavanca de otimização para cargas agênticas.</a:t>
            </a:r>
            <a:endParaRPr lang="en-US" sz="1100" dirty="0"/>
          </a:p>
        </p:txBody>
      </p:sp>
      <p:sp>
        <p:nvSpPr>
          <p:cNvPr id="27" name="Text 24"/>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7FBA00"/>
                </a:solidFill>
                <a:latin typeface="JetBrains Mono" pitchFamily="34" charset="0"/>
                <a:ea typeface="JetBrains Mono" pitchFamily="34" charset="-122"/>
                <a:cs typeface="JetBrains Mono" pitchFamily="34" charset="-120"/>
              </a:rPr>
              <a:t>CONTEXT ENGINEERING</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000" dirty="0">
                <a:solidFill>
                  <a:srgbClr val="1A1A19"/>
                </a:solidFill>
                <a:latin typeface="Inter" pitchFamily="34" charset="0"/>
                <a:ea typeface="Inter" pitchFamily="34" charset="-122"/>
                <a:cs typeface="Inter" pitchFamily="34" charset="-120"/>
              </a:rPr>
              <a:t>Três disciplinas que separam times de engenharia que pagam por valor de times que pagam por ruído.</a:t>
            </a:r>
            <a:endParaRPr lang="en-US" sz="3000" dirty="0"/>
          </a:p>
        </p:txBody>
      </p:sp>
      <p:sp>
        <p:nvSpPr>
          <p:cNvPr id="10" name="Shape 8"/>
          <p:cNvSpPr/>
          <p:nvPr/>
        </p:nvSpPr>
        <p:spPr>
          <a:xfrm>
            <a:off x="449428" y="3840480"/>
            <a:ext cx="3611880" cy="2377440"/>
          </a:xfrm>
          <a:prstGeom prst="rect">
            <a:avLst/>
          </a:prstGeom>
          <a:solidFill>
            <a:srgbClr val="F8F7F2"/>
          </a:solidFill>
          <a:ln w="6350">
            <a:solidFill>
              <a:srgbClr val="E8E5DC"/>
            </a:solidFill>
            <a:prstDash val="solid"/>
          </a:ln>
        </p:spPr>
      </p:sp>
      <p:sp>
        <p:nvSpPr>
          <p:cNvPr id="11" name="Shape 9"/>
          <p:cNvSpPr/>
          <p:nvPr/>
        </p:nvSpPr>
        <p:spPr>
          <a:xfrm>
            <a:off x="449428" y="3840480"/>
            <a:ext cx="3611880" cy="73152"/>
          </a:xfrm>
          <a:prstGeom prst="rect">
            <a:avLst/>
          </a:prstGeom>
          <a:solidFill>
            <a:srgbClr val="7FBA00"/>
          </a:solidFill>
          <a:ln/>
        </p:spPr>
      </p:sp>
      <p:sp>
        <p:nvSpPr>
          <p:cNvPr id="12" name="Text 10"/>
          <p:cNvSpPr/>
          <p:nvPr/>
        </p:nvSpPr>
        <p:spPr>
          <a:xfrm>
            <a:off x="723748" y="4114800"/>
            <a:ext cx="3063240" cy="274320"/>
          </a:xfrm>
          <a:prstGeom prst="rect">
            <a:avLst/>
          </a:prstGeom>
          <a:noFill/>
          <a:ln/>
        </p:spPr>
        <p:txBody>
          <a:bodyPr wrap="square" lIns="0" tIns="0" rIns="0" bIns="0" rtlCol="0" anchor="t"/>
          <a:lstStyle/>
          <a:p>
            <a:pPr indent="0" marL="0">
              <a:buNone/>
            </a:pPr>
            <a:r>
              <a:rPr lang="en-US" sz="900" b="1" spc="300" kern="0" dirty="0">
                <a:solidFill>
                  <a:srgbClr val="7FBA00"/>
                </a:solidFill>
                <a:latin typeface="JetBrains Mono" pitchFamily="34" charset="0"/>
                <a:ea typeface="JetBrains Mono" pitchFamily="34" charset="-122"/>
                <a:cs typeface="JetBrains Mono" pitchFamily="34" charset="-120"/>
              </a:rPr>
              <a:t>Disciplina 01 · Curadoria</a:t>
            </a:r>
            <a:endParaRPr lang="en-US" sz="900" dirty="0"/>
          </a:p>
        </p:txBody>
      </p:sp>
      <p:sp>
        <p:nvSpPr>
          <p:cNvPr id="13" name="Text 11"/>
          <p:cNvSpPr/>
          <p:nvPr/>
        </p:nvSpPr>
        <p:spPr>
          <a:xfrm>
            <a:off x="723748" y="4480560"/>
            <a:ext cx="3063240" cy="731520"/>
          </a:xfrm>
          <a:prstGeom prst="rect">
            <a:avLst/>
          </a:prstGeom>
          <a:noFill/>
          <a:ln/>
        </p:spPr>
        <p:txBody>
          <a:bodyPr wrap="square" lIns="0" tIns="0" rIns="0" bIns="0" rtlCol="0" anchor="t"/>
          <a:lstStyle/>
          <a:p>
            <a:pPr indent="0" marL="0">
              <a:buNone/>
            </a:pPr>
            <a:r>
              <a:rPr lang="en-US" sz="1700" b="1" dirty="0">
                <a:solidFill>
                  <a:srgbClr val="1A1A19"/>
                </a:solidFill>
                <a:latin typeface="Inter" pitchFamily="34" charset="0"/>
                <a:ea typeface="Inter" pitchFamily="34" charset="-122"/>
                <a:cs typeface="Inter" pitchFamily="34" charset="-120"/>
              </a:rPr>
              <a:t>Contexto mínimo, sinal máximo</a:t>
            </a:r>
            <a:endParaRPr lang="en-US" sz="1700" dirty="0"/>
          </a:p>
        </p:txBody>
      </p:sp>
      <p:sp>
        <p:nvSpPr>
          <p:cNvPr id="14" name="Text 12"/>
          <p:cNvSpPr/>
          <p:nvPr/>
        </p:nvSpPr>
        <p:spPr>
          <a:xfrm>
            <a:off x="723748" y="5303520"/>
            <a:ext cx="3063240" cy="86868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Cada token na janela é um token cobrado. Cure agressivamente. Feche abas não relacionadas. Referencie arquivos explicitamente com sintaxe hash file em vez de deixar o agente adivinhar.</a:t>
            </a:r>
            <a:endParaRPr lang="en-US" sz="1100" dirty="0"/>
          </a:p>
        </p:txBody>
      </p:sp>
      <p:sp>
        <p:nvSpPr>
          <p:cNvPr id="15" name="Shape 13"/>
          <p:cNvSpPr/>
          <p:nvPr/>
        </p:nvSpPr>
        <p:spPr>
          <a:xfrm>
            <a:off x="4289908" y="3840480"/>
            <a:ext cx="3611880" cy="2377440"/>
          </a:xfrm>
          <a:prstGeom prst="rect">
            <a:avLst/>
          </a:prstGeom>
          <a:solidFill>
            <a:srgbClr val="F8F7F2"/>
          </a:solidFill>
          <a:ln w="6350">
            <a:solidFill>
              <a:srgbClr val="E8E5DC"/>
            </a:solidFill>
            <a:prstDash val="solid"/>
          </a:ln>
        </p:spPr>
      </p:sp>
      <p:sp>
        <p:nvSpPr>
          <p:cNvPr id="16" name="Shape 14"/>
          <p:cNvSpPr/>
          <p:nvPr/>
        </p:nvSpPr>
        <p:spPr>
          <a:xfrm>
            <a:off x="4289908" y="3840480"/>
            <a:ext cx="3611880" cy="73152"/>
          </a:xfrm>
          <a:prstGeom prst="rect">
            <a:avLst/>
          </a:prstGeom>
          <a:solidFill>
            <a:srgbClr val="00A4EF"/>
          </a:solidFill>
          <a:ln/>
        </p:spPr>
      </p:sp>
      <p:sp>
        <p:nvSpPr>
          <p:cNvPr id="17" name="Text 15"/>
          <p:cNvSpPr/>
          <p:nvPr/>
        </p:nvSpPr>
        <p:spPr>
          <a:xfrm>
            <a:off x="4564228" y="4114800"/>
            <a:ext cx="3063240" cy="274320"/>
          </a:xfrm>
          <a:prstGeom prst="rect">
            <a:avLst/>
          </a:prstGeom>
          <a:noFill/>
          <a:ln/>
        </p:spPr>
        <p:txBody>
          <a:bodyPr wrap="square" lIns="0" tIns="0" rIns="0" bIns="0" rtlCol="0" anchor="t"/>
          <a:lstStyle/>
          <a:p>
            <a:pPr indent="0" marL="0">
              <a:buNone/>
            </a:pPr>
            <a:r>
              <a:rPr lang="en-US" sz="900" b="1" spc="300" kern="0" dirty="0">
                <a:solidFill>
                  <a:srgbClr val="00A4EF"/>
                </a:solidFill>
                <a:latin typeface="JetBrains Mono" pitchFamily="34" charset="0"/>
                <a:ea typeface="JetBrains Mono" pitchFamily="34" charset="-122"/>
                <a:cs typeface="JetBrains Mono" pitchFamily="34" charset="-120"/>
              </a:rPr>
              <a:t>Disciplina 02 · Cache</a:t>
            </a:r>
            <a:endParaRPr lang="en-US" sz="900" dirty="0"/>
          </a:p>
        </p:txBody>
      </p:sp>
      <p:sp>
        <p:nvSpPr>
          <p:cNvPr id="18" name="Text 16"/>
          <p:cNvSpPr/>
          <p:nvPr/>
        </p:nvSpPr>
        <p:spPr>
          <a:xfrm>
            <a:off x="4564228" y="4480560"/>
            <a:ext cx="3063240" cy="731520"/>
          </a:xfrm>
          <a:prstGeom prst="rect">
            <a:avLst/>
          </a:prstGeom>
          <a:noFill/>
          <a:ln/>
        </p:spPr>
        <p:txBody>
          <a:bodyPr wrap="square" lIns="0" tIns="0" rIns="0" bIns="0" rtlCol="0" anchor="t"/>
          <a:lstStyle/>
          <a:p>
            <a:pPr indent="0" marL="0">
              <a:buNone/>
            </a:pPr>
            <a:r>
              <a:rPr lang="en-US" sz="1700" b="1" dirty="0">
                <a:solidFill>
                  <a:srgbClr val="1A1A19"/>
                </a:solidFill>
                <a:latin typeface="Inter" pitchFamily="34" charset="0"/>
                <a:ea typeface="Inter" pitchFamily="34" charset="-122"/>
                <a:cs typeface="Inter" pitchFamily="34" charset="-120"/>
              </a:rPr>
              <a:t>Cache o que repete</a:t>
            </a:r>
            <a:endParaRPr lang="en-US" sz="1700" dirty="0"/>
          </a:p>
        </p:txBody>
      </p:sp>
      <p:sp>
        <p:nvSpPr>
          <p:cNvPr id="19" name="Text 17"/>
          <p:cNvSpPr/>
          <p:nvPr/>
        </p:nvSpPr>
        <p:spPr>
          <a:xfrm>
            <a:off x="4564228" y="5303520"/>
            <a:ext cx="3063240" cy="86868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System prompts, índices de codebase e documentos grandes que aparecem turno após turno pertencem ao prompt cache. Um system prompt de 50K tokens em taxa cheia de input é um vazamento de budget.</a:t>
            </a:r>
            <a:endParaRPr lang="en-US" sz="1100" dirty="0"/>
          </a:p>
        </p:txBody>
      </p:sp>
      <p:sp>
        <p:nvSpPr>
          <p:cNvPr id="20" name="Shape 18"/>
          <p:cNvSpPr/>
          <p:nvPr/>
        </p:nvSpPr>
        <p:spPr>
          <a:xfrm>
            <a:off x="8130388" y="3840480"/>
            <a:ext cx="3611880" cy="2377440"/>
          </a:xfrm>
          <a:prstGeom prst="rect">
            <a:avLst/>
          </a:prstGeom>
          <a:solidFill>
            <a:srgbClr val="F8F7F2"/>
          </a:solidFill>
          <a:ln w="6350">
            <a:solidFill>
              <a:srgbClr val="E8E5DC"/>
            </a:solidFill>
            <a:prstDash val="solid"/>
          </a:ln>
        </p:spPr>
      </p:sp>
      <p:sp>
        <p:nvSpPr>
          <p:cNvPr id="21" name="Shape 19"/>
          <p:cNvSpPr/>
          <p:nvPr/>
        </p:nvSpPr>
        <p:spPr>
          <a:xfrm>
            <a:off x="8130388" y="3840480"/>
            <a:ext cx="3611880" cy="73152"/>
          </a:xfrm>
          <a:prstGeom prst="rect">
            <a:avLst/>
          </a:prstGeom>
          <a:solidFill>
            <a:srgbClr val="FFB900"/>
          </a:solidFill>
          <a:ln/>
        </p:spPr>
      </p:sp>
      <p:sp>
        <p:nvSpPr>
          <p:cNvPr id="22" name="Text 20"/>
          <p:cNvSpPr/>
          <p:nvPr/>
        </p:nvSpPr>
        <p:spPr>
          <a:xfrm>
            <a:off x="8404708" y="4114800"/>
            <a:ext cx="3063240" cy="274320"/>
          </a:xfrm>
          <a:prstGeom prst="rect">
            <a:avLst/>
          </a:prstGeom>
          <a:noFill/>
          <a:ln/>
        </p:spPr>
        <p:txBody>
          <a:bodyPr wrap="square" lIns="0" tIns="0" rIns="0" bIns="0" rtlCol="0" anchor="t"/>
          <a:lstStyle/>
          <a:p>
            <a:pPr indent="0" marL="0">
              <a:buNone/>
            </a:pPr>
            <a:r>
              <a:rPr lang="en-US" sz="900" b="1" spc="300" kern="0" dirty="0">
                <a:solidFill>
                  <a:srgbClr val="FFB900"/>
                </a:solidFill>
                <a:latin typeface="JetBrains Mono" pitchFamily="34" charset="0"/>
                <a:ea typeface="JetBrains Mono" pitchFamily="34" charset="-122"/>
                <a:cs typeface="JetBrains Mono" pitchFamily="34" charset="-120"/>
              </a:rPr>
              <a:t>Disciplina 03 · Compactação</a:t>
            </a:r>
            <a:endParaRPr lang="en-US" sz="900" dirty="0"/>
          </a:p>
        </p:txBody>
      </p:sp>
      <p:sp>
        <p:nvSpPr>
          <p:cNvPr id="23" name="Text 21"/>
          <p:cNvSpPr/>
          <p:nvPr/>
        </p:nvSpPr>
        <p:spPr>
          <a:xfrm>
            <a:off x="8404708" y="4480560"/>
            <a:ext cx="3063240" cy="731520"/>
          </a:xfrm>
          <a:prstGeom prst="rect">
            <a:avLst/>
          </a:prstGeom>
          <a:noFill/>
          <a:ln/>
        </p:spPr>
        <p:txBody>
          <a:bodyPr wrap="square" lIns="0" tIns="0" rIns="0" bIns="0" rtlCol="0" anchor="t"/>
          <a:lstStyle/>
          <a:p>
            <a:pPr indent="0" marL="0">
              <a:buNone/>
            </a:pPr>
            <a:r>
              <a:rPr lang="en-US" sz="1700" b="1" dirty="0">
                <a:solidFill>
                  <a:srgbClr val="1A1A19"/>
                </a:solidFill>
                <a:latin typeface="Inter" pitchFamily="34" charset="0"/>
                <a:ea typeface="Inter" pitchFamily="34" charset="-122"/>
                <a:cs typeface="Inter" pitchFamily="34" charset="-120"/>
              </a:rPr>
              <a:t>Compacte antes de crescer</a:t>
            </a:r>
            <a:endParaRPr lang="en-US" sz="1700" dirty="0"/>
          </a:p>
        </p:txBody>
      </p:sp>
      <p:sp>
        <p:nvSpPr>
          <p:cNvPr id="24" name="Text 22"/>
          <p:cNvSpPr/>
          <p:nvPr/>
        </p:nvSpPr>
        <p:spPr>
          <a:xfrm>
            <a:off x="8404708" y="5303520"/>
            <a:ext cx="3063240" cy="86868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Sessões longas acumulam context rot, onde a qualidade da resposta degrada conforme material irrelevante se acumula. Compacte o histórico em um resumo denso antes que ele morda qualidade e budget.</a:t>
            </a:r>
            <a:endParaRPr lang="en-US" sz="1100" dirty="0"/>
          </a:p>
        </p:txBody>
      </p:sp>
      <p:sp>
        <p:nvSpPr>
          <p:cNvPr id="25" name="Text 23"/>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09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0E"/>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B8B6AE"/>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2286000"/>
            <a:ext cx="3657600" cy="457200"/>
          </a:xfrm>
          <a:prstGeom prst="rect">
            <a:avLst/>
          </a:prstGeom>
          <a:noFill/>
          <a:ln/>
        </p:spPr>
        <p:txBody>
          <a:bodyPr wrap="square" lIns="0" tIns="0" rIns="0" bIns="0" rtlCol="0" anchor="ctr"/>
          <a:lstStyle/>
          <a:p>
            <a:pPr indent="0" marL="0">
              <a:buNone/>
            </a:pPr>
            <a:r>
              <a:rPr lang="en-US" sz="1400" b="1" spc="600" kern="0" dirty="0">
                <a:solidFill>
                  <a:srgbClr val="FFB900"/>
                </a:solidFill>
                <a:latin typeface="JetBrains Mono" pitchFamily="34" charset="0"/>
                <a:ea typeface="JetBrains Mono" pitchFamily="34" charset="-122"/>
                <a:cs typeface="JetBrains Mono" pitchFamily="34" charset="-120"/>
              </a:rPr>
              <a:t>PARTE</a:t>
            </a:r>
            <a:endParaRPr lang="en-US" sz="1400" dirty="0"/>
          </a:p>
        </p:txBody>
      </p:sp>
      <p:sp>
        <p:nvSpPr>
          <p:cNvPr id="9" name="Text 7"/>
          <p:cNvSpPr/>
          <p:nvPr/>
        </p:nvSpPr>
        <p:spPr>
          <a:xfrm>
            <a:off x="457200" y="2651760"/>
            <a:ext cx="4572000" cy="2743200"/>
          </a:xfrm>
          <a:prstGeom prst="rect">
            <a:avLst/>
          </a:prstGeom>
          <a:noFill/>
          <a:ln/>
        </p:spPr>
        <p:txBody>
          <a:bodyPr wrap="square" lIns="0" tIns="0" rIns="0" bIns="0" rtlCol="0" anchor="t"/>
          <a:lstStyle/>
          <a:p>
            <a:pPr indent="0" marL="0">
              <a:buNone/>
            </a:pPr>
            <a:r>
              <a:rPr lang="en-US" sz="14000" b="1" dirty="0">
                <a:solidFill>
                  <a:srgbClr val="FFB900"/>
                </a:solidFill>
                <a:latin typeface="Inter" pitchFamily="34" charset="0"/>
                <a:ea typeface="Inter" pitchFamily="34" charset="-122"/>
                <a:cs typeface="Inter" pitchFamily="34" charset="-120"/>
              </a:rPr>
              <a:t>03</a:t>
            </a:r>
            <a:endParaRPr lang="en-US" sz="14000" dirty="0"/>
          </a:p>
        </p:txBody>
      </p:sp>
      <p:sp>
        <p:nvSpPr>
          <p:cNvPr id="10" name="Text 8"/>
          <p:cNvSpPr/>
          <p:nvPr/>
        </p:nvSpPr>
        <p:spPr>
          <a:xfrm>
            <a:off x="5486400" y="3200400"/>
            <a:ext cx="6400800" cy="914400"/>
          </a:xfrm>
          <a:prstGeom prst="rect">
            <a:avLst/>
          </a:prstGeom>
          <a:noFill/>
          <a:ln/>
        </p:spPr>
        <p:txBody>
          <a:bodyPr wrap="square" lIns="0" tIns="0" rIns="0" bIns="0" rtlCol="0" anchor="t"/>
          <a:lstStyle/>
          <a:p>
            <a:pPr indent="0" marL="0">
              <a:buNone/>
            </a:pPr>
            <a:r>
              <a:rPr lang="en-US" sz="5000" dirty="0">
                <a:solidFill>
                  <a:srgbClr val="F0F0EB"/>
                </a:solidFill>
                <a:latin typeface="Inter" pitchFamily="34" charset="0"/>
                <a:ea typeface="Inter" pitchFamily="34" charset="-122"/>
                <a:cs typeface="Inter" pitchFamily="34" charset="-120"/>
              </a:rPr>
              <a:t>O custo real.</a:t>
            </a:r>
            <a:endParaRPr lang="en-US" sz="5000" dirty="0"/>
          </a:p>
        </p:txBody>
      </p:sp>
      <p:sp>
        <p:nvSpPr>
          <p:cNvPr id="11" name="Text 9"/>
          <p:cNvSpPr/>
          <p:nvPr/>
        </p:nvSpPr>
        <p:spPr>
          <a:xfrm>
            <a:off x="5486400" y="4297680"/>
            <a:ext cx="6400800" cy="1371600"/>
          </a:xfrm>
          <a:prstGeom prst="rect">
            <a:avLst/>
          </a:prstGeom>
          <a:noFill/>
          <a:ln/>
        </p:spPr>
        <p:txBody>
          <a:bodyPr wrap="square" lIns="0" tIns="0" rIns="0" bIns="0" rtlCol="0" anchor="t"/>
          <a:lstStyle/>
          <a:p>
            <a:pPr indent="0" marL="0">
              <a:buNone/>
            </a:pPr>
            <a:r>
              <a:rPr lang="en-US" sz="1500" dirty="0">
                <a:solidFill>
                  <a:srgbClr val="B8B6AE"/>
                </a:solidFill>
                <a:latin typeface="Inter" pitchFamily="34" charset="0"/>
                <a:ea typeface="Inter" pitchFamily="34" charset="-122"/>
                <a:cs typeface="Inter" pitchFamily="34" charset="-120"/>
              </a:rPr>
              <a:t>Taxas por modelo, allowances incluídos, janela promocional, e uma história que enquadra toda a conversa.</a:t>
            </a:r>
            <a:endParaRPr lang="en-US" sz="1500" dirty="0"/>
          </a:p>
        </p:txBody>
      </p:sp>
      <p:sp>
        <p:nvSpPr>
          <p:cNvPr id="12" name="Text 1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O GAP DE CUSTO QUE NINGUÉM VIA NA FATURA ANTIGA</a:t>
            </a:r>
            <a:endParaRPr lang="en-US" sz="1000" dirty="0"/>
          </a:p>
        </p:txBody>
      </p:sp>
      <p:sp>
        <p:nvSpPr>
          <p:cNvPr id="9" name="Text 7"/>
          <p:cNvSpPr/>
          <p:nvPr/>
        </p:nvSpPr>
        <p:spPr>
          <a:xfrm>
            <a:off x="457200" y="1645920"/>
            <a:ext cx="5486400" cy="2011680"/>
          </a:xfrm>
          <a:prstGeom prst="rect">
            <a:avLst/>
          </a:prstGeom>
          <a:noFill/>
          <a:ln/>
        </p:spPr>
        <p:txBody>
          <a:bodyPr wrap="square" lIns="0" tIns="0" rIns="0" bIns="0" rtlCol="0" anchor="t"/>
          <a:lstStyle/>
          <a:p>
            <a:pPr indent="0" marL="0">
              <a:buNone/>
            </a:pPr>
            <a:r>
              <a:rPr lang="en-US" sz="13000" b="1" dirty="0">
                <a:solidFill>
                  <a:srgbClr val="00A4EF"/>
                </a:solidFill>
                <a:latin typeface="Inter" pitchFamily="34" charset="0"/>
                <a:ea typeface="Inter" pitchFamily="34" charset="-122"/>
                <a:cs typeface="Inter" pitchFamily="34" charset="-120"/>
              </a:rPr>
              <a:t>100</a:t>
            </a:r>
            <a:pPr indent="0" marL="0">
              <a:buNone/>
            </a:pPr>
            <a:r>
              <a:rPr lang="en-US" sz="5000" i="1" baseline="30000" dirty="0">
                <a:solidFill>
                  <a:srgbClr val="00A4EF"/>
                </a:solidFill>
                <a:latin typeface="Inter" pitchFamily="34" charset="0"/>
                <a:ea typeface="Inter" pitchFamily="34" charset="-122"/>
                <a:cs typeface="Inter" pitchFamily="34" charset="-120"/>
              </a:rPr>
              <a:t>x</a:t>
            </a:r>
            <a:endParaRPr lang="en-US" sz="13000" dirty="0"/>
          </a:p>
        </p:txBody>
      </p:sp>
      <p:sp>
        <p:nvSpPr>
          <p:cNvPr id="10" name="Text 8"/>
          <p:cNvSpPr/>
          <p:nvPr/>
        </p:nvSpPr>
        <p:spPr>
          <a:xfrm>
            <a:off x="457200" y="3749040"/>
            <a:ext cx="5303520" cy="1645920"/>
          </a:xfrm>
          <a:prstGeom prst="rect">
            <a:avLst/>
          </a:prstGeom>
          <a:noFill/>
          <a:ln/>
        </p:spPr>
        <p:txBody>
          <a:bodyPr wrap="square" lIns="0" tIns="0" rIns="0" bIns="0" rtlCol="0" anchor="t"/>
          <a:lstStyle/>
          <a:p>
            <a:pPr indent="0" marL="0">
              <a:buNone/>
            </a:pPr>
            <a:r>
              <a:rPr lang="en-US" sz="1900" dirty="0">
                <a:solidFill>
                  <a:srgbClr val="1A1A19"/>
                </a:solidFill>
                <a:latin typeface="Inter" pitchFamily="34" charset="0"/>
                <a:ea typeface="Inter" pitchFamily="34" charset="-122"/>
                <a:cs typeface="Inter" pitchFamily="34" charset="-120"/>
              </a:rPr>
              <a:t>É a razão de custo realista entre uma pergunta única no chat e uma sessão agêntica longa.</a:t>
            </a:r>
            <a:endParaRPr lang="en-US" sz="1900" dirty="0"/>
          </a:p>
        </p:txBody>
      </p:sp>
      <p:sp>
        <p:nvSpPr>
          <p:cNvPr id="11" name="Text 9"/>
          <p:cNvSpPr/>
          <p:nvPr/>
        </p:nvSpPr>
        <p:spPr>
          <a:xfrm>
            <a:off x="457200" y="5577840"/>
            <a:ext cx="5303520" cy="91440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Uma pergunta no chat consome alguns milhares de tokens. Um agente de 4 horas refatorando um serviço em 50 arquivos consome milhões, mais chamadas repetidas de tools. Sob PRUs, ambos contavam como uma premium request. Sob AI Credits, a fatura reflete o trabalho real.</a:t>
            </a:r>
            <a:endParaRPr lang="en-US" sz="1100" dirty="0"/>
          </a:p>
        </p:txBody>
      </p:sp>
      <p:sp>
        <p:nvSpPr>
          <p:cNvPr id="12" name="Shape 10"/>
          <p:cNvSpPr/>
          <p:nvPr/>
        </p:nvSpPr>
        <p:spPr>
          <a:xfrm>
            <a:off x="6217920" y="1828800"/>
            <a:ext cx="5486400" cy="4114800"/>
          </a:xfrm>
          <a:prstGeom prst="roundRect">
            <a:avLst>
              <a:gd name="adj" fmla="val 1778"/>
            </a:avLst>
          </a:prstGeom>
          <a:solidFill>
            <a:srgbClr val="0F0F0E"/>
          </a:solidFill>
          <a:ln w="6350">
            <a:solidFill>
              <a:srgbClr val="1A1A1A"/>
            </a:solidFill>
            <a:prstDash val="solid"/>
          </a:ln>
        </p:spPr>
      </p:sp>
      <p:sp>
        <p:nvSpPr>
          <p:cNvPr id="13" name="Shape 11"/>
          <p:cNvSpPr/>
          <p:nvPr/>
        </p:nvSpPr>
        <p:spPr>
          <a:xfrm>
            <a:off x="6217920" y="1828800"/>
            <a:ext cx="5486400" cy="320040"/>
          </a:xfrm>
          <a:prstGeom prst="rect">
            <a:avLst/>
          </a:prstGeom>
          <a:solidFill>
            <a:srgbClr val="1A1A1A"/>
          </a:solidFill>
          <a:ln/>
        </p:spPr>
      </p:sp>
      <p:sp>
        <p:nvSpPr>
          <p:cNvPr id="14" name="Shape 12"/>
          <p:cNvSpPr/>
          <p:nvPr/>
        </p:nvSpPr>
        <p:spPr>
          <a:xfrm>
            <a:off x="6355080" y="1929384"/>
            <a:ext cx="118872" cy="118872"/>
          </a:xfrm>
          <a:prstGeom prst="ellipse">
            <a:avLst/>
          </a:prstGeom>
          <a:solidFill>
            <a:srgbClr val="F25022"/>
          </a:solidFill>
          <a:ln/>
        </p:spPr>
      </p:sp>
      <p:sp>
        <p:nvSpPr>
          <p:cNvPr id="15" name="Shape 13"/>
          <p:cNvSpPr/>
          <p:nvPr/>
        </p:nvSpPr>
        <p:spPr>
          <a:xfrm>
            <a:off x="6519672" y="1929384"/>
            <a:ext cx="118872" cy="118872"/>
          </a:xfrm>
          <a:prstGeom prst="ellipse">
            <a:avLst/>
          </a:prstGeom>
          <a:solidFill>
            <a:srgbClr val="FFB900"/>
          </a:solidFill>
          <a:ln/>
        </p:spPr>
      </p:sp>
      <p:sp>
        <p:nvSpPr>
          <p:cNvPr id="16" name="Shape 14"/>
          <p:cNvSpPr/>
          <p:nvPr/>
        </p:nvSpPr>
        <p:spPr>
          <a:xfrm>
            <a:off x="6684264" y="1929384"/>
            <a:ext cx="118872" cy="118872"/>
          </a:xfrm>
          <a:prstGeom prst="ellipse">
            <a:avLst/>
          </a:prstGeom>
          <a:solidFill>
            <a:srgbClr val="7FBA00"/>
          </a:solidFill>
          <a:ln/>
        </p:spPr>
      </p:sp>
      <p:sp>
        <p:nvSpPr>
          <p:cNvPr id="17" name="Text 15"/>
          <p:cNvSpPr/>
          <p:nvPr/>
        </p:nvSpPr>
        <p:spPr>
          <a:xfrm>
            <a:off x="6217920" y="1828800"/>
            <a:ext cx="5486400" cy="320040"/>
          </a:xfrm>
          <a:prstGeom prst="rect">
            <a:avLst/>
          </a:prstGeom>
          <a:noFill/>
          <a:ln/>
        </p:spPr>
        <p:txBody>
          <a:bodyPr wrap="square" lIns="0" tIns="0" rIns="0" bIns="0" rtlCol="0" anchor="ctr"/>
          <a:lstStyle/>
          <a:p>
            <a:pPr algn="ctr" indent="0" marL="0">
              <a:buNone/>
            </a:pPr>
            <a:r>
              <a:rPr lang="en-US" sz="900" dirty="0">
                <a:solidFill>
                  <a:srgbClr val="B8B6AE"/>
                </a:solidFill>
                <a:latin typeface="JetBrains Mono" pitchFamily="34" charset="0"/>
                <a:ea typeface="JetBrains Mono" pitchFamily="34" charset="-122"/>
                <a:cs typeface="JetBrains Mono" pitchFamily="34" charset="-120"/>
              </a:rPr>
              <a:t>agent-session.log</a:t>
            </a:r>
            <a:endParaRPr lang="en-US" sz="900" dirty="0"/>
          </a:p>
        </p:txBody>
      </p:sp>
      <p:sp>
        <p:nvSpPr>
          <p:cNvPr id="18" name="Text 16"/>
          <p:cNvSpPr/>
          <p:nvPr/>
        </p:nvSpPr>
        <p:spPr>
          <a:xfrm>
            <a:off x="6446520" y="2286000"/>
            <a:ext cx="5029200" cy="274320"/>
          </a:xfrm>
          <a:prstGeom prst="rect">
            <a:avLst/>
          </a:prstGeom>
          <a:noFill/>
          <a:ln/>
        </p:spPr>
        <p:txBody>
          <a:bodyPr wrap="square" lIns="0" tIns="0" rIns="0" bIns="0" rtlCol="0" anchor="t"/>
          <a:lstStyle/>
          <a:p>
            <a:pPr indent="0" marL="0">
              <a:buNone/>
            </a:pPr>
            <a:r>
              <a:rPr lang="en-US" sz="1100" b="1" dirty="0">
                <a:solidFill>
                  <a:srgbClr val="7FBA00"/>
                </a:solidFill>
                <a:latin typeface="JetBrains Mono" pitchFamily="34" charset="0"/>
                <a:ea typeface="JetBrains Mono" pitchFamily="34" charset="-122"/>
                <a:cs typeface="JetBrains Mono" pitchFamily="34" charset="-120"/>
              </a:rPr>
              <a:t>$ </a:t>
            </a:r>
            <a:pPr indent="0" marL="0">
              <a:buNone/>
            </a:pPr>
            <a:r>
              <a:rPr lang="en-US" sz="1100" dirty="0">
                <a:solidFill>
                  <a:srgbClr val="F0F0EB"/>
                </a:solidFill>
                <a:latin typeface="JetBrains Mono" pitchFamily="34" charset="0"/>
                <a:ea typeface="JetBrains Mono" pitchFamily="34" charset="-122"/>
                <a:cs typeface="JetBrains Mono" pitchFamily="34" charset="-120"/>
              </a:rPr>
              <a:t>refatorar user-service em 50 arquivos</a:t>
            </a:r>
            <a:endParaRPr lang="en-US" sz="1100" dirty="0"/>
          </a:p>
        </p:txBody>
      </p:sp>
      <p:sp>
        <p:nvSpPr>
          <p:cNvPr id="19" name="Text 17"/>
          <p:cNvSpPr/>
          <p:nvPr/>
        </p:nvSpPr>
        <p:spPr>
          <a:xfrm>
            <a:off x="6446520" y="2651760"/>
            <a:ext cx="5029200" cy="274320"/>
          </a:xfrm>
          <a:prstGeom prst="rect">
            <a:avLst/>
          </a:prstGeom>
          <a:noFill/>
          <a:ln/>
        </p:spPr>
        <p:txBody>
          <a:bodyPr wrap="square" lIns="0" tIns="0" rIns="0" bIns="0" rtlCol="0" anchor="t"/>
          <a:lstStyle/>
          <a:p>
            <a:pPr indent="0" marL="0">
              <a:buNone/>
            </a:pPr>
            <a:r>
              <a:rPr lang="en-US" sz="1000" dirty="0">
                <a:solidFill>
                  <a:srgbClr val="B8B6AE"/>
                </a:solidFill>
                <a:latin typeface="JetBrains Mono" pitchFamily="34" charset="0"/>
                <a:ea typeface="JetBrains Mono" pitchFamily="34" charset="-122"/>
                <a:cs typeface="JetBrains Mono" pitchFamily="34" charset="-120"/>
              </a:rPr>
              <a:t>  turno 01</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00A4EF"/>
                </a:solidFill>
                <a:latin typeface="JetBrains Mono" pitchFamily="34" charset="0"/>
                <a:ea typeface="JetBrains Mono" pitchFamily="34" charset="-122"/>
                <a:cs typeface="JetBrains Mono" pitchFamily="34" charset="-120"/>
              </a:rPr>
              <a:t>input: 12,400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F25022"/>
                </a:solidFill>
                <a:latin typeface="JetBrains Mono" pitchFamily="34" charset="0"/>
                <a:ea typeface="JetBrains Mono" pitchFamily="34" charset="-122"/>
                <a:cs typeface="JetBrains Mono" pitchFamily="34" charset="-120"/>
              </a:rPr>
              <a:t>output: 8,200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7FBA00"/>
                </a:solidFill>
                <a:latin typeface="JetBrains Mono" pitchFamily="34" charset="0"/>
                <a:ea typeface="JetBrains Mono" pitchFamily="34" charset="-122"/>
                <a:cs typeface="JetBrains Mono" pitchFamily="34" charset="-120"/>
              </a:rPr>
              <a:t>cached: 0</a:t>
            </a:r>
            <a:endParaRPr lang="en-US" sz="1000" dirty="0"/>
          </a:p>
        </p:txBody>
      </p:sp>
      <p:sp>
        <p:nvSpPr>
          <p:cNvPr id="20" name="Text 18"/>
          <p:cNvSpPr/>
          <p:nvPr/>
        </p:nvSpPr>
        <p:spPr>
          <a:xfrm>
            <a:off x="6446520" y="2944368"/>
            <a:ext cx="5029200" cy="274320"/>
          </a:xfrm>
          <a:prstGeom prst="rect">
            <a:avLst/>
          </a:prstGeom>
          <a:noFill/>
          <a:ln/>
        </p:spPr>
        <p:txBody>
          <a:bodyPr wrap="square" lIns="0" tIns="0" rIns="0" bIns="0" rtlCol="0" anchor="t"/>
          <a:lstStyle/>
          <a:p>
            <a:pPr indent="0" marL="0">
              <a:buNone/>
            </a:pPr>
            <a:r>
              <a:rPr lang="en-US" sz="1000" dirty="0">
                <a:solidFill>
                  <a:srgbClr val="B8B6AE"/>
                </a:solidFill>
                <a:latin typeface="JetBrains Mono" pitchFamily="34" charset="0"/>
                <a:ea typeface="JetBrains Mono" pitchFamily="34" charset="-122"/>
                <a:cs typeface="JetBrains Mono" pitchFamily="34" charset="-120"/>
              </a:rPr>
              <a:t>  turno 02</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00A4EF"/>
                </a:solidFill>
                <a:latin typeface="JetBrains Mono" pitchFamily="34" charset="0"/>
                <a:ea typeface="JetBrains Mono" pitchFamily="34" charset="-122"/>
                <a:cs typeface="JetBrains Mono" pitchFamily="34" charset="-120"/>
              </a:rPr>
              <a:t>input: 18,900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F25022"/>
                </a:solidFill>
                <a:latin typeface="JetBrains Mono" pitchFamily="34" charset="0"/>
                <a:ea typeface="JetBrains Mono" pitchFamily="34" charset="-122"/>
                <a:cs typeface="JetBrains Mono" pitchFamily="34" charset="-120"/>
              </a:rPr>
              <a:t>output: 12,500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7FBA00"/>
                </a:solidFill>
                <a:latin typeface="JetBrains Mono" pitchFamily="34" charset="0"/>
                <a:ea typeface="JetBrains Mono" pitchFamily="34" charset="-122"/>
                <a:cs typeface="JetBrains Mono" pitchFamily="34" charset="-120"/>
              </a:rPr>
              <a:t>cached: 11,200</a:t>
            </a:r>
            <a:endParaRPr lang="en-US" sz="1000" dirty="0"/>
          </a:p>
        </p:txBody>
      </p:sp>
      <p:sp>
        <p:nvSpPr>
          <p:cNvPr id="21" name="Text 19"/>
          <p:cNvSpPr/>
          <p:nvPr/>
        </p:nvSpPr>
        <p:spPr>
          <a:xfrm>
            <a:off x="6446520" y="3236976"/>
            <a:ext cx="5029200" cy="274320"/>
          </a:xfrm>
          <a:prstGeom prst="rect">
            <a:avLst/>
          </a:prstGeom>
          <a:noFill/>
          <a:ln/>
        </p:spPr>
        <p:txBody>
          <a:bodyPr wrap="square" lIns="0" tIns="0" rIns="0" bIns="0" rtlCol="0" anchor="t"/>
          <a:lstStyle/>
          <a:p>
            <a:pPr indent="0" marL="0">
              <a:buNone/>
            </a:pPr>
            <a:r>
              <a:rPr lang="en-US" sz="1000" dirty="0">
                <a:solidFill>
                  <a:srgbClr val="B8B6AE"/>
                </a:solidFill>
                <a:latin typeface="JetBrains Mono" pitchFamily="34" charset="0"/>
                <a:ea typeface="JetBrains Mono" pitchFamily="34" charset="-122"/>
                <a:cs typeface="JetBrains Mono" pitchFamily="34" charset="-120"/>
              </a:rPr>
              <a:t>  turno 03</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00A4EF"/>
                </a:solidFill>
                <a:latin typeface="JetBrains Mono" pitchFamily="34" charset="0"/>
                <a:ea typeface="JetBrains Mono" pitchFamily="34" charset="-122"/>
                <a:cs typeface="JetBrains Mono" pitchFamily="34" charset="-120"/>
              </a:rPr>
              <a:t>input: 24,100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F25022"/>
                </a:solidFill>
                <a:latin typeface="JetBrains Mono" pitchFamily="34" charset="0"/>
                <a:ea typeface="JetBrains Mono" pitchFamily="34" charset="-122"/>
                <a:cs typeface="JetBrains Mono" pitchFamily="34" charset="-120"/>
              </a:rPr>
              <a:t>output: 19,800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7FBA00"/>
                </a:solidFill>
                <a:latin typeface="JetBrains Mono" pitchFamily="34" charset="0"/>
                <a:ea typeface="JetBrains Mono" pitchFamily="34" charset="-122"/>
                <a:cs typeface="JetBrains Mono" pitchFamily="34" charset="-120"/>
              </a:rPr>
              <a:t>cached: 17,400</a:t>
            </a:r>
            <a:endParaRPr lang="en-US" sz="1000" dirty="0"/>
          </a:p>
        </p:txBody>
      </p:sp>
      <p:sp>
        <p:nvSpPr>
          <p:cNvPr id="22" name="Text 20"/>
          <p:cNvSpPr/>
          <p:nvPr/>
        </p:nvSpPr>
        <p:spPr>
          <a:xfrm>
            <a:off x="6446520" y="3529584"/>
            <a:ext cx="5029200" cy="274320"/>
          </a:xfrm>
          <a:prstGeom prst="rect">
            <a:avLst/>
          </a:prstGeom>
          <a:noFill/>
          <a:ln/>
        </p:spPr>
        <p:txBody>
          <a:bodyPr wrap="square" lIns="0" tIns="0" rIns="0" bIns="0" rtlCol="0" anchor="t"/>
          <a:lstStyle/>
          <a:p>
            <a:pPr indent="0" marL="0">
              <a:buNone/>
            </a:pPr>
            <a:r>
              <a:rPr lang="en-US" sz="1000" dirty="0">
                <a:solidFill>
                  <a:srgbClr val="B8B6AE"/>
                </a:solidFill>
                <a:latin typeface="JetBrains Mono" pitchFamily="34" charset="0"/>
                <a:ea typeface="JetBrains Mono" pitchFamily="34" charset="-122"/>
                <a:cs typeface="JetBrains Mono" pitchFamily="34" charset="-120"/>
              </a:rPr>
              <a:t>  …</a:t>
            </a:r>
            <a:endParaRPr lang="en-US" sz="1000" dirty="0"/>
          </a:p>
        </p:txBody>
      </p:sp>
      <p:sp>
        <p:nvSpPr>
          <p:cNvPr id="23" name="Text 21"/>
          <p:cNvSpPr/>
          <p:nvPr/>
        </p:nvSpPr>
        <p:spPr>
          <a:xfrm>
            <a:off x="6446520" y="3822192"/>
            <a:ext cx="5029200" cy="274320"/>
          </a:xfrm>
          <a:prstGeom prst="rect">
            <a:avLst/>
          </a:prstGeom>
          <a:noFill/>
          <a:ln/>
        </p:spPr>
        <p:txBody>
          <a:bodyPr wrap="square" lIns="0" tIns="0" rIns="0" bIns="0" rtlCol="0" anchor="t"/>
          <a:lstStyle/>
          <a:p>
            <a:pPr indent="0" marL="0">
              <a:buNone/>
            </a:pPr>
            <a:r>
              <a:rPr lang="en-US" sz="1000" dirty="0">
                <a:solidFill>
                  <a:srgbClr val="B8B6AE"/>
                </a:solidFill>
                <a:latin typeface="JetBrains Mono" pitchFamily="34" charset="0"/>
                <a:ea typeface="JetBrains Mono" pitchFamily="34" charset="-122"/>
                <a:cs typeface="JetBrains Mono" pitchFamily="34" charset="-120"/>
              </a:rPr>
              <a:t>  turno 87</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00A4EF"/>
                </a:solidFill>
                <a:latin typeface="JetBrains Mono" pitchFamily="34" charset="0"/>
                <a:ea typeface="JetBrains Mono" pitchFamily="34" charset="-122"/>
                <a:cs typeface="JetBrains Mono" pitchFamily="34" charset="-120"/>
              </a:rPr>
              <a:t>input: 31,200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F25022"/>
                </a:solidFill>
                <a:latin typeface="JetBrains Mono" pitchFamily="34" charset="0"/>
                <a:ea typeface="JetBrains Mono" pitchFamily="34" charset="-122"/>
                <a:cs typeface="JetBrains Mono" pitchFamily="34" charset="-120"/>
              </a:rPr>
              <a:t>output: 28,400</a:t>
            </a:r>
            <a:pPr indent="0" marL="0">
              <a:buNone/>
            </a:pPr>
            <a:r>
              <a:rPr lang="en-US" sz="1000" dirty="0">
                <a:solidFill>
                  <a:srgbClr val="82807A"/>
                </a:solidFill>
                <a:latin typeface="JetBrains Mono" pitchFamily="34" charset="0"/>
                <a:ea typeface="JetBrains Mono" pitchFamily="34" charset="-122"/>
                <a:cs typeface="JetBrains Mono" pitchFamily="34" charset="-120"/>
              </a:rPr>
              <a:t> · </a:t>
            </a:r>
            <a:pPr indent="0" marL="0">
              <a:buNone/>
            </a:pPr>
            <a:r>
              <a:rPr lang="en-US" sz="1000" dirty="0">
                <a:solidFill>
                  <a:srgbClr val="7FBA00"/>
                </a:solidFill>
                <a:latin typeface="JetBrains Mono" pitchFamily="34" charset="0"/>
                <a:ea typeface="JetBrains Mono" pitchFamily="34" charset="-122"/>
                <a:cs typeface="JetBrains Mono" pitchFamily="34" charset="-120"/>
              </a:rPr>
              <a:t>cached: 28,900</a:t>
            </a:r>
            <a:endParaRPr lang="en-US" sz="1000" dirty="0"/>
          </a:p>
        </p:txBody>
      </p:sp>
      <p:sp>
        <p:nvSpPr>
          <p:cNvPr id="24" name="Text 22"/>
          <p:cNvSpPr/>
          <p:nvPr/>
        </p:nvSpPr>
        <p:spPr>
          <a:xfrm>
            <a:off x="6446520" y="4251960"/>
            <a:ext cx="5029200" cy="274320"/>
          </a:xfrm>
          <a:prstGeom prst="rect">
            <a:avLst/>
          </a:prstGeom>
          <a:noFill/>
          <a:ln/>
        </p:spPr>
        <p:txBody>
          <a:bodyPr wrap="square" lIns="0" tIns="0" rIns="0" bIns="0" rtlCol="0" anchor="t"/>
          <a:lstStyle/>
          <a:p>
            <a:pPr indent="0" marL="0">
              <a:buNone/>
            </a:pPr>
            <a:r>
              <a:rPr lang="en-US" sz="1100" b="1" dirty="0">
                <a:solidFill>
                  <a:srgbClr val="FFB900"/>
                </a:solidFill>
                <a:latin typeface="JetBrains Mono" pitchFamily="34" charset="0"/>
                <a:ea typeface="JetBrains Mono" pitchFamily="34" charset="-122"/>
                <a:cs typeface="JetBrains Mono" pitchFamily="34" charset="-120"/>
              </a:rPr>
              <a:t>total: </a:t>
            </a:r>
            <a:pPr indent="0" marL="0">
              <a:buNone/>
            </a:pPr>
            <a:r>
              <a:rPr lang="en-US" sz="1100" dirty="0">
                <a:solidFill>
                  <a:srgbClr val="00A4EF"/>
                </a:solidFill>
                <a:latin typeface="JetBrains Mono" pitchFamily="34" charset="0"/>
                <a:ea typeface="JetBrains Mono" pitchFamily="34" charset="-122"/>
                <a:cs typeface="JetBrains Mono" pitchFamily="34" charset="-120"/>
              </a:rPr>
              <a:t>4.2M input </a:t>
            </a:r>
            <a:pPr indent="0" marL="0">
              <a:buNone/>
            </a:pPr>
            <a:r>
              <a:rPr lang="en-US" sz="1100" dirty="0">
                <a:solidFill>
                  <a:srgbClr val="82807A"/>
                </a:solidFill>
                <a:latin typeface="JetBrains Mono" pitchFamily="34" charset="0"/>
                <a:ea typeface="JetBrains Mono" pitchFamily="34" charset="-122"/>
                <a:cs typeface="JetBrains Mono" pitchFamily="34" charset="-120"/>
              </a:rPr>
              <a:t>· </a:t>
            </a:r>
            <a:pPr indent="0" marL="0">
              <a:buNone/>
            </a:pPr>
            <a:r>
              <a:rPr lang="en-US" sz="1100" dirty="0">
                <a:solidFill>
                  <a:srgbClr val="F25022"/>
                </a:solidFill>
                <a:latin typeface="JetBrains Mono" pitchFamily="34" charset="0"/>
                <a:ea typeface="JetBrains Mono" pitchFamily="34" charset="-122"/>
                <a:cs typeface="JetBrains Mono" pitchFamily="34" charset="-120"/>
              </a:rPr>
              <a:t>2.8M output </a:t>
            </a:r>
            <a:pPr indent="0" marL="0">
              <a:buNone/>
            </a:pPr>
            <a:r>
              <a:rPr lang="en-US" sz="1100" dirty="0">
                <a:solidFill>
                  <a:srgbClr val="82807A"/>
                </a:solidFill>
                <a:latin typeface="JetBrains Mono" pitchFamily="34" charset="0"/>
                <a:ea typeface="JetBrains Mono" pitchFamily="34" charset="-122"/>
                <a:cs typeface="JetBrains Mono" pitchFamily="34" charset="-120"/>
              </a:rPr>
              <a:t>· </a:t>
            </a:r>
            <a:pPr indent="0" marL="0">
              <a:buNone/>
            </a:pPr>
            <a:r>
              <a:rPr lang="en-US" sz="1100" dirty="0">
                <a:solidFill>
                  <a:srgbClr val="7FBA00"/>
                </a:solidFill>
                <a:latin typeface="JetBrains Mono" pitchFamily="34" charset="0"/>
                <a:ea typeface="JetBrains Mono" pitchFamily="34" charset="-122"/>
                <a:cs typeface="JetBrains Mono" pitchFamily="34" charset="-120"/>
              </a:rPr>
              <a:t>2.1M cached</a:t>
            </a:r>
            <a:endParaRPr lang="en-US" sz="1100" dirty="0"/>
          </a:p>
        </p:txBody>
      </p:sp>
      <p:sp>
        <p:nvSpPr>
          <p:cNvPr id="25" name="Text 23"/>
          <p:cNvSpPr/>
          <p:nvPr/>
        </p:nvSpPr>
        <p:spPr>
          <a:xfrm>
            <a:off x="6446520" y="4544568"/>
            <a:ext cx="5029200" cy="274320"/>
          </a:xfrm>
          <a:prstGeom prst="rect">
            <a:avLst/>
          </a:prstGeom>
          <a:noFill/>
          <a:ln/>
        </p:spPr>
        <p:txBody>
          <a:bodyPr wrap="square" lIns="0" tIns="0" rIns="0" bIns="0" rtlCol="0" anchor="t"/>
          <a:lstStyle/>
          <a:p>
            <a:pPr indent="0" marL="0">
              <a:buNone/>
            </a:pPr>
            <a:r>
              <a:rPr lang="en-US" sz="1100" b="1" dirty="0">
                <a:solidFill>
                  <a:srgbClr val="FFB900"/>
                </a:solidFill>
                <a:latin typeface="JetBrains Mono" pitchFamily="34" charset="0"/>
                <a:ea typeface="JetBrains Mono" pitchFamily="34" charset="-122"/>
                <a:cs typeface="JetBrains Mono" pitchFamily="34" charset="-120"/>
              </a:rPr>
              <a:t>custo: </a:t>
            </a:r>
            <a:pPr indent="0" marL="0">
              <a:buNone/>
            </a:pPr>
            <a:r>
              <a:rPr lang="en-US" sz="1100" dirty="0">
                <a:solidFill>
                  <a:srgbClr val="F0F0EB"/>
                </a:solidFill>
                <a:latin typeface="JetBrains Mono" pitchFamily="34" charset="0"/>
                <a:ea typeface="JetBrains Mono" pitchFamily="34" charset="-122"/>
                <a:cs typeface="JetBrains Mono" pitchFamily="34" charset="-120"/>
              </a:rPr>
              <a:t>~12,400 credits ≈ US$ 124.00</a:t>
            </a:r>
            <a:endParaRPr lang="en-US" sz="1100" dirty="0"/>
          </a:p>
        </p:txBody>
      </p:sp>
      <p:sp>
        <p:nvSpPr>
          <p:cNvPr id="26" name="Text 24"/>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FFB900"/>
                </a:solidFill>
                <a:latin typeface="JetBrains Mono" pitchFamily="34" charset="0"/>
                <a:ea typeface="JetBrains Mono" pitchFamily="34" charset="-122"/>
                <a:cs typeface="JetBrains Mono" pitchFamily="34" charset="-120"/>
              </a:rPr>
              <a:t>TAXAS POR MODELO, EM AI CREDITS POR 1 MILHÃO DE TOKENS</a:t>
            </a:r>
            <a:endParaRPr lang="en-US" sz="1000" dirty="0"/>
          </a:p>
        </p:txBody>
      </p:sp>
      <p:sp>
        <p:nvSpPr>
          <p:cNvPr id="9" name="Text 7"/>
          <p:cNvSpPr/>
          <p:nvPr/>
        </p:nvSpPr>
        <p:spPr>
          <a:xfrm>
            <a:off x="457200" y="1325880"/>
            <a:ext cx="11247120" cy="822960"/>
          </a:xfrm>
          <a:prstGeom prst="rect">
            <a:avLst/>
          </a:prstGeom>
          <a:noFill/>
          <a:ln/>
        </p:spPr>
        <p:txBody>
          <a:bodyPr wrap="square" lIns="0" tIns="0" rIns="0" bIns="0" rtlCol="0" anchor="t"/>
          <a:lstStyle/>
          <a:p>
            <a:pPr indent="0" marL="0">
              <a:buNone/>
            </a:pPr>
            <a:r>
              <a:rPr lang="en-US" sz="2600" dirty="0">
                <a:solidFill>
                  <a:srgbClr val="1A1A19"/>
                </a:solidFill>
                <a:latin typeface="Inter" pitchFamily="34" charset="0"/>
                <a:ea typeface="Inter" pitchFamily="34" charset="-122"/>
                <a:cs typeface="Inter" pitchFamily="34" charset="-120"/>
              </a:rPr>
              <a:t>Escolha de modelo é uma decisão de budget, não estética.</a:t>
            </a:r>
            <a:endParaRPr lang="en-US" sz="2600" dirty="0"/>
          </a:p>
        </p:txBody>
      </p:sp>
      <p:sp>
        <p:nvSpPr>
          <p:cNvPr id="10" name="Text 8"/>
          <p:cNvSpPr/>
          <p:nvPr/>
        </p:nvSpPr>
        <p:spPr>
          <a:xfrm>
            <a:off x="457200" y="2468880"/>
            <a:ext cx="3657600" cy="274320"/>
          </a:xfrm>
          <a:prstGeom prst="rect">
            <a:avLst/>
          </a:prstGeom>
          <a:noFill/>
          <a:ln/>
        </p:spPr>
        <p:txBody>
          <a:bodyPr wrap="square" lIns="0" tIns="0" rIns="0" bIns="0" rtlCol="0" anchor="t"/>
          <a:lstStyle/>
          <a:p>
            <a:pPr indent="0" marL="0">
              <a:buNone/>
            </a:pPr>
            <a:r>
              <a:rPr lang="en-US" sz="900" b="1" spc="300" kern="0" dirty="0">
                <a:solidFill>
                  <a:srgbClr val="82807A"/>
                </a:solidFill>
                <a:latin typeface="JetBrains Mono" pitchFamily="34" charset="0"/>
                <a:ea typeface="JetBrains Mono" pitchFamily="34" charset="-122"/>
                <a:cs typeface="JetBrains Mono" pitchFamily="34" charset="-120"/>
              </a:rPr>
              <a:t>MODELO DEFAULT · OUTPUT</a:t>
            </a:r>
            <a:endParaRPr lang="en-US" sz="900" dirty="0"/>
          </a:p>
        </p:txBody>
      </p:sp>
      <p:sp>
        <p:nvSpPr>
          <p:cNvPr id="11" name="Text 9"/>
          <p:cNvSpPr/>
          <p:nvPr/>
        </p:nvSpPr>
        <p:spPr>
          <a:xfrm>
            <a:off x="457200" y="2743200"/>
            <a:ext cx="3657600" cy="1371600"/>
          </a:xfrm>
          <a:prstGeom prst="rect">
            <a:avLst/>
          </a:prstGeom>
          <a:noFill/>
          <a:ln/>
        </p:spPr>
        <p:txBody>
          <a:bodyPr wrap="square" lIns="0" tIns="0" rIns="0" bIns="0" rtlCol="0" anchor="t"/>
          <a:lstStyle/>
          <a:p>
            <a:pPr indent="0" marL="0">
              <a:buNone/>
            </a:pPr>
            <a:r>
              <a:rPr lang="en-US" sz="9000" dirty="0">
                <a:solidFill>
                  <a:srgbClr val="7FBA00"/>
                </a:solidFill>
                <a:latin typeface="Inter" pitchFamily="34" charset="0"/>
                <a:ea typeface="Inter" pitchFamily="34" charset="-122"/>
                <a:cs typeface="Inter" pitchFamily="34" charset="-120"/>
              </a:rPr>
              <a:t>0</a:t>
            </a:r>
            <a:pPr indent="0" marL="0">
              <a:buNone/>
            </a:pPr>
            <a:r>
              <a:rPr lang="en-US" sz="2800" i="1" dirty="0">
                <a:solidFill>
                  <a:srgbClr val="7FBA00"/>
                </a:solidFill>
                <a:latin typeface="Inter" pitchFamily="34" charset="0"/>
                <a:ea typeface="Inter" pitchFamily="34" charset="-122"/>
                <a:cs typeface="Inter" pitchFamily="34" charset="-120"/>
              </a:rPr>
              <a:t> cr</a:t>
            </a:r>
            <a:endParaRPr lang="en-US" sz="9000" dirty="0"/>
          </a:p>
        </p:txBody>
      </p:sp>
      <p:sp>
        <p:nvSpPr>
          <p:cNvPr id="12" name="Text 10"/>
          <p:cNvSpPr/>
          <p:nvPr/>
        </p:nvSpPr>
        <p:spPr>
          <a:xfrm>
            <a:off x="457200" y="4297680"/>
            <a:ext cx="3657600" cy="45720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GPT-5 mini, incluído no plano base</a:t>
            </a:r>
            <a:endParaRPr lang="en-US" sz="1100" dirty="0"/>
          </a:p>
        </p:txBody>
      </p:sp>
      <p:sp>
        <p:nvSpPr>
          <p:cNvPr id="13" name="Text 11"/>
          <p:cNvSpPr/>
          <p:nvPr/>
        </p:nvSpPr>
        <p:spPr>
          <a:xfrm>
            <a:off x="4297680" y="2926080"/>
            <a:ext cx="2743200" cy="274320"/>
          </a:xfrm>
          <a:prstGeom prst="rect">
            <a:avLst/>
          </a:prstGeom>
          <a:noFill/>
          <a:ln/>
        </p:spPr>
        <p:txBody>
          <a:bodyPr wrap="square" lIns="0" tIns="0" rIns="0" bIns="0" rtlCol="0" anchor="t"/>
          <a:lstStyle/>
          <a:p>
            <a:pPr algn="ctr" indent="0" marL="0">
              <a:buNone/>
            </a:pPr>
            <a:r>
              <a:rPr lang="en-US" sz="900" b="1" spc="300" kern="0" dirty="0">
                <a:solidFill>
                  <a:srgbClr val="82807A"/>
                </a:solidFill>
                <a:latin typeface="JetBrains Mono" pitchFamily="34" charset="0"/>
                <a:ea typeface="JetBrains Mono" pitchFamily="34" charset="-122"/>
                <a:cs typeface="JetBrains Mono" pitchFamily="34" charset="-120"/>
              </a:rPr>
              <a:t>RAZÃO DE CUSTO</a:t>
            </a:r>
            <a:endParaRPr lang="en-US" sz="900" dirty="0"/>
          </a:p>
        </p:txBody>
      </p:sp>
      <p:sp>
        <p:nvSpPr>
          <p:cNvPr id="14" name="Text 12"/>
          <p:cNvSpPr/>
          <p:nvPr/>
        </p:nvSpPr>
        <p:spPr>
          <a:xfrm>
            <a:off x="4297680" y="3246120"/>
            <a:ext cx="2743200" cy="914400"/>
          </a:xfrm>
          <a:prstGeom prst="rect">
            <a:avLst/>
          </a:prstGeom>
          <a:noFill/>
          <a:ln/>
        </p:spPr>
        <p:txBody>
          <a:bodyPr wrap="square" lIns="0" tIns="0" rIns="0" bIns="0" rtlCol="0" anchor="t"/>
          <a:lstStyle/>
          <a:p>
            <a:pPr algn="ctr" indent="0" marL="0">
              <a:buNone/>
            </a:pPr>
            <a:r>
              <a:rPr lang="en-US" sz="4800" dirty="0">
                <a:solidFill>
                  <a:srgbClr val="F25022"/>
                </a:solidFill>
                <a:latin typeface="Inter" pitchFamily="34" charset="0"/>
                <a:ea typeface="Inter" pitchFamily="34" charset="-122"/>
                <a:cs typeface="Inter" pitchFamily="34" charset="-120"/>
              </a:rPr>
              <a:t>7,500x</a:t>
            </a:r>
            <a:endParaRPr lang="en-US" sz="4800" dirty="0"/>
          </a:p>
        </p:txBody>
      </p:sp>
      <p:sp>
        <p:nvSpPr>
          <p:cNvPr id="15" name="Text 13"/>
          <p:cNvSpPr/>
          <p:nvPr/>
        </p:nvSpPr>
        <p:spPr>
          <a:xfrm>
            <a:off x="4297680" y="4160520"/>
            <a:ext cx="2743200" cy="365760"/>
          </a:xfrm>
          <a:prstGeom prst="rect">
            <a:avLst/>
          </a:prstGeom>
          <a:noFill/>
          <a:ln/>
        </p:spPr>
        <p:txBody>
          <a:bodyPr wrap="square" lIns="0" tIns="0" rIns="0" bIns="0" rtlCol="0" anchor="t"/>
          <a:lstStyle/>
          <a:p>
            <a:pPr algn="ctr" indent="0" marL="0">
              <a:buNone/>
            </a:pPr>
            <a:r>
              <a:rPr lang="en-US" sz="900" spc="200" kern="0" dirty="0">
                <a:solidFill>
                  <a:srgbClr val="82807A"/>
                </a:solidFill>
                <a:latin typeface="JetBrains Mono" pitchFamily="34" charset="0"/>
                <a:ea typeface="JetBrains Mono" pitchFamily="34" charset="-122"/>
                <a:cs typeface="JetBrains Mono" pitchFamily="34" charset="-120"/>
              </a:rPr>
              <a:t>por milhão de tokens de output</a:t>
            </a:r>
            <a:endParaRPr lang="en-US" sz="900" dirty="0"/>
          </a:p>
        </p:txBody>
      </p:sp>
      <p:sp>
        <p:nvSpPr>
          <p:cNvPr id="16" name="Text 14"/>
          <p:cNvSpPr/>
          <p:nvPr/>
        </p:nvSpPr>
        <p:spPr>
          <a:xfrm>
            <a:off x="7315200" y="2468880"/>
            <a:ext cx="4114800" cy="274320"/>
          </a:xfrm>
          <a:prstGeom prst="rect">
            <a:avLst/>
          </a:prstGeom>
          <a:noFill/>
          <a:ln/>
        </p:spPr>
        <p:txBody>
          <a:bodyPr wrap="square" lIns="0" tIns="0" rIns="0" bIns="0" rtlCol="0" anchor="t"/>
          <a:lstStyle/>
          <a:p>
            <a:pPr indent="0" marL="0">
              <a:buNone/>
            </a:pPr>
            <a:r>
              <a:rPr lang="en-US" sz="900" b="1" spc="300" kern="0" dirty="0">
                <a:solidFill>
                  <a:srgbClr val="82807A"/>
                </a:solidFill>
                <a:latin typeface="JetBrains Mono" pitchFamily="34" charset="0"/>
                <a:ea typeface="JetBrains Mono" pitchFamily="34" charset="-122"/>
                <a:cs typeface="JetBrains Mono" pitchFamily="34" charset="-120"/>
              </a:rPr>
              <a:t>MODELO RESERVADO · OUTPUT</a:t>
            </a:r>
            <a:endParaRPr lang="en-US" sz="900" dirty="0"/>
          </a:p>
        </p:txBody>
      </p:sp>
      <p:sp>
        <p:nvSpPr>
          <p:cNvPr id="17" name="Text 15"/>
          <p:cNvSpPr/>
          <p:nvPr/>
        </p:nvSpPr>
        <p:spPr>
          <a:xfrm>
            <a:off x="7315200" y="2743200"/>
            <a:ext cx="4572000" cy="1371600"/>
          </a:xfrm>
          <a:prstGeom prst="rect">
            <a:avLst/>
          </a:prstGeom>
          <a:noFill/>
          <a:ln/>
        </p:spPr>
        <p:txBody>
          <a:bodyPr wrap="square" lIns="0" tIns="0" rIns="0" bIns="0" rtlCol="0" anchor="t"/>
          <a:lstStyle/>
          <a:p>
            <a:pPr indent="0" marL="0">
              <a:buNone/>
            </a:pPr>
            <a:r>
              <a:rPr lang="en-US" sz="7000" dirty="0">
                <a:solidFill>
                  <a:srgbClr val="F25022"/>
                </a:solidFill>
                <a:latin typeface="Inter" pitchFamily="34" charset="0"/>
                <a:ea typeface="Inter" pitchFamily="34" charset="-122"/>
                <a:cs typeface="Inter" pitchFamily="34" charset="-120"/>
              </a:rPr>
              <a:t>7,500</a:t>
            </a:r>
            <a:pPr indent="0" marL="0">
              <a:buNone/>
            </a:pPr>
            <a:r>
              <a:rPr lang="en-US" sz="2400" i="1" dirty="0">
                <a:solidFill>
                  <a:srgbClr val="F25022"/>
                </a:solidFill>
                <a:latin typeface="Inter" pitchFamily="34" charset="0"/>
                <a:ea typeface="Inter" pitchFamily="34" charset="-122"/>
                <a:cs typeface="Inter" pitchFamily="34" charset="-120"/>
              </a:rPr>
              <a:t> cr</a:t>
            </a:r>
            <a:endParaRPr lang="en-US" sz="7000" dirty="0"/>
          </a:p>
        </p:txBody>
      </p:sp>
      <p:sp>
        <p:nvSpPr>
          <p:cNvPr id="18" name="Text 16"/>
          <p:cNvSpPr/>
          <p:nvPr/>
        </p:nvSpPr>
        <p:spPr>
          <a:xfrm>
            <a:off x="7315200" y="4297680"/>
            <a:ext cx="4389120" cy="45720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Claude Opus 4.7, uso reservado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4937760"/>
          <a:ext cx="11247120" cy="1463040"/>
        </p:xfrm>
        <a:graphic>
          <a:graphicData uri="http://schemas.openxmlformats.org/drawingml/2006/table">
            <a:tbl>
              <a:tblPr/>
              <a:tblGrid>
                <a:gridCol w="2194560"/>
                <a:gridCol w="1645920"/>
                <a:gridCol w="1645920"/>
                <a:gridCol w="5760720"/>
              </a:tblGrid>
              <a:tr h="292608">
                <a:tc>
                  <a:txBody>
                    <a:bodyPr/>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MODELO</a:t>
                      </a:r>
                      <a:endParaRPr lang="en-US" sz="9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INPUT</a:t>
                      </a:r>
                      <a:endParaRPr lang="en-US" sz="9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OUTPUT</a:t>
                      </a:r>
                      <a:endParaRPr lang="en-US" sz="9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900" b="1" spc="200" kern="0" dirty="0">
                          <a:solidFill>
                            <a:srgbClr val="82807A"/>
                          </a:solidFill>
                          <a:latin typeface="JetBrains Mono" pitchFamily="34" charset="0"/>
                          <a:ea typeface="JetBrains Mono" pitchFamily="34" charset="-122"/>
                          <a:cs typeface="JetBrains Mono" pitchFamily="34" charset="-120"/>
                        </a:rPr>
                        <a:t>MELHOR USO</a:t>
                      </a:r>
                      <a:endParaRPr lang="en-US" sz="9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r>
              <a:tr h="292608">
                <a:tc>
                  <a:txBody>
                    <a:bodyPr/>
                    <a:lstStyle/>
                    <a:p>
                      <a:pPr indent="0" marL="0">
                        <a:buNone/>
                      </a:pPr>
                      <a:r>
                        <a:rPr lang="en-US" sz="1100" b="1" dirty="0">
                          <a:solidFill>
                            <a:srgbClr val="1A1A19"/>
                          </a:solidFill>
                          <a:latin typeface="Inter" pitchFamily="34" charset="0"/>
                          <a:ea typeface="Inter" pitchFamily="34" charset="-122"/>
                          <a:cs typeface="Inter" pitchFamily="34" charset="-120"/>
                        </a:rPr>
                        <a:t>GPT-5 mini</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7FBA00"/>
                          </a:solidFill>
                          <a:latin typeface="JetBrains Mono" pitchFamily="34" charset="0"/>
                          <a:ea typeface="JetBrains Mono" pitchFamily="34" charset="-122"/>
                          <a:cs typeface="JetBrains Mono" pitchFamily="34" charset="-120"/>
                        </a:rPr>
                        <a:t>incluído</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7FBA00"/>
                          </a:solidFill>
                          <a:latin typeface="JetBrains Mono" pitchFamily="34" charset="0"/>
                          <a:ea typeface="JetBrains Mono" pitchFamily="34" charset="-122"/>
                          <a:cs typeface="JetBrains Mono" pitchFamily="34" charset="-120"/>
                        </a:rPr>
                        <a:t>incluído</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5C5A52"/>
                          </a:solidFill>
                          <a:latin typeface="Inter" pitchFamily="34" charset="0"/>
                          <a:ea typeface="Inter" pitchFamily="34" charset="-122"/>
                          <a:cs typeface="Inter" pitchFamily="34" charset="-120"/>
                        </a:rPr>
                        <a:t>Chat diário, completions rotineiras</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r>
              <a:tr h="292608">
                <a:tc>
                  <a:txBody>
                    <a:bodyPr/>
                    <a:lstStyle/>
                    <a:p>
                      <a:pPr indent="0" marL="0">
                        <a:buNone/>
                      </a:pPr>
                      <a:r>
                        <a:rPr lang="en-US" sz="1100" dirty="0">
                          <a:solidFill>
                            <a:srgbClr val="1A1A19"/>
                          </a:solidFill>
                          <a:latin typeface="Inter" pitchFamily="34" charset="0"/>
                          <a:ea typeface="Inter" pitchFamily="34" charset="-122"/>
                          <a:cs typeface="Inter" pitchFamily="34" charset="-120"/>
                        </a:rPr>
                        <a:t>GPT-5</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1A1A19"/>
                          </a:solidFill>
                          <a:latin typeface="JetBrains Mono" pitchFamily="34" charset="0"/>
                          <a:ea typeface="JetBrains Mono" pitchFamily="34" charset="-122"/>
                          <a:cs typeface="JetBrains Mono" pitchFamily="34" charset="-120"/>
                        </a:rPr>
                        <a:t>125 cr</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1A1A19"/>
                          </a:solidFill>
                          <a:latin typeface="JetBrains Mono" pitchFamily="34" charset="0"/>
                          <a:ea typeface="JetBrains Mono" pitchFamily="34" charset="-122"/>
                          <a:cs typeface="JetBrains Mono" pitchFamily="34" charset="-120"/>
                        </a:rPr>
                        <a:t>1,000 cr</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5C5A52"/>
                          </a:solidFill>
                          <a:latin typeface="Inter" pitchFamily="34" charset="0"/>
                          <a:ea typeface="Inter" pitchFamily="34" charset="-122"/>
                          <a:cs typeface="Inter" pitchFamily="34" charset="-120"/>
                        </a:rPr>
                        <a:t>Raciocínio e código de média complexidade</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r>
              <a:tr h="292608">
                <a:tc>
                  <a:txBody>
                    <a:bodyPr/>
                    <a:lstStyle/>
                    <a:p>
                      <a:pPr indent="0" marL="0">
                        <a:buNone/>
                      </a:pPr>
                      <a:r>
                        <a:rPr lang="en-US" sz="1100" dirty="0">
                          <a:solidFill>
                            <a:srgbClr val="1A1A19"/>
                          </a:solidFill>
                          <a:latin typeface="Inter" pitchFamily="34" charset="0"/>
                          <a:ea typeface="Inter" pitchFamily="34" charset="-122"/>
                          <a:cs typeface="Inter" pitchFamily="34" charset="-120"/>
                        </a:rPr>
                        <a:t>Claude Sonnet 4.6</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1A1A19"/>
                          </a:solidFill>
                          <a:latin typeface="JetBrains Mono" pitchFamily="34" charset="0"/>
                          <a:ea typeface="JetBrains Mono" pitchFamily="34" charset="-122"/>
                          <a:cs typeface="JetBrains Mono" pitchFamily="34" charset="-120"/>
                        </a:rPr>
                        <a:t>300 cr</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1A1A19"/>
                          </a:solidFill>
                          <a:latin typeface="JetBrains Mono" pitchFamily="34" charset="0"/>
                          <a:ea typeface="JetBrains Mono" pitchFamily="34" charset="-122"/>
                          <a:cs typeface="JetBrains Mono" pitchFamily="34" charset="-120"/>
                        </a:rPr>
                        <a:t>1,500 cr</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5C5A52"/>
                          </a:solidFill>
                          <a:latin typeface="Inter" pitchFamily="34" charset="0"/>
                          <a:ea typeface="Inter" pitchFamily="34" charset="-122"/>
                          <a:cs typeface="Inter" pitchFamily="34" charset="-120"/>
                        </a:rPr>
                        <a:t>Contexto longo, trabalho sustentado</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r>
              <a:tr h="292608">
                <a:tc>
                  <a:txBody>
                    <a:bodyPr/>
                    <a:lstStyle/>
                    <a:p>
                      <a:pPr indent="0" marL="0">
                        <a:buNone/>
                      </a:pPr>
                      <a:r>
                        <a:rPr lang="en-US" sz="1100" b="1" dirty="0">
                          <a:solidFill>
                            <a:srgbClr val="1A1A19"/>
                          </a:solidFill>
                          <a:latin typeface="Inter" pitchFamily="34" charset="0"/>
                          <a:ea typeface="Inter" pitchFamily="34" charset="-122"/>
                          <a:cs typeface="Inter" pitchFamily="34" charset="-120"/>
                        </a:rPr>
                        <a:t>Claude Opus 4.7</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F25022"/>
                          </a:solidFill>
                          <a:latin typeface="JetBrains Mono" pitchFamily="34" charset="0"/>
                          <a:ea typeface="JetBrains Mono" pitchFamily="34" charset="-122"/>
                          <a:cs typeface="JetBrains Mono" pitchFamily="34" charset="-120"/>
                        </a:rPr>
                        <a:t>1,500 cr</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b="1" dirty="0">
                          <a:solidFill>
                            <a:srgbClr val="F25022"/>
                          </a:solidFill>
                          <a:latin typeface="JetBrains Mono" pitchFamily="34" charset="0"/>
                          <a:ea typeface="JetBrains Mono" pitchFamily="34" charset="-122"/>
                          <a:cs typeface="JetBrains Mono" pitchFamily="34" charset="-120"/>
                        </a:rPr>
                        <a:t>7,500 cr</a:t>
                      </a:r>
                      <a:endParaRPr lang="en-US" sz="1100" dirty="0">
                        <a:latin typeface="JetBrains Mono" charset="0"/>
                        <a:ea typeface="JetBrains Mono" charset="0"/>
                        <a:cs typeface="JetBrains Mono"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c>
                  <a:txBody>
                    <a:bodyPr/>
                    <a:lstStyle/>
                    <a:p>
                      <a:pPr indent="0" marL="0">
                        <a:buNone/>
                      </a:pPr>
                      <a:r>
                        <a:rPr lang="en-US" sz="1100" dirty="0">
                          <a:solidFill>
                            <a:srgbClr val="5C5A52"/>
                          </a:solidFill>
                          <a:latin typeface="Inter" pitchFamily="34" charset="0"/>
                          <a:ea typeface="Inter" pitchFamily="34" charset="-122"/>
                          <a:cs typeface="Inter" pitchFamily="34" charset="-120"/>
                        </a:rPr>
                        <a:t>Tarefas agênticas difíceis, uso reservado</a:t>
                      </a:r>
                      <a:endParaRPr lang="en-US" sz="1100" dirty="0">
                        <a:latin typeface="Inter" charset="0"/>
                        <a:ea typeface="Inter" charset="0"/>
                        <a:cs typeface="Inter" charset="0"/>
                      </a:endParaRPr>
                    </a:p>
                  </a:txBody>
                  <a:tcPr marL="91440" marR="91440" marT="45720" marB="45720" anchor="ctr">
                    <a:lnL w="6350" cap="flat" cmpd="sng" algn="ctr">
                      <a:solidFill>
                        <a:srgbClr val="E8E5DC"/>
                      </a:solidFill>
                      <a:prstDash val="solid"/>
                      <a:round/>
                      <a:headEnd type="none" w="med" len="med"/>
                      <a:tailEnd type="none" w="med" len="med"/>
                    </a:lnL>
                    <a:lnR w="6350" cap="flat" cmpd="sng" algn="ctr">
                      <a:solidFill>
                        <a:srgbClr val="E8E5DC"/>
                      </a:solidFill>
                      <a:prstDash val="solid"/>
                      <a:round/>
                      <a:headEnd type="none" w="med" len="med"/>
                      <a:tailEnd type="none" w="med" len="med"/>
                    </a:lnR>
                    <a:lnT w="6350" cap="flat" cmpd="sng" algn="ctr">
                      <a:solidFill>
                        <a:srgbClr val="E8E5DC"/>
                      </a:solidFill>
                      <a:prstDash val="solid"/>
                      <a:round/>
                      <a:headEnd type="none" w="med" len="med"/>
                      <a:tailEnd type="none" w="med" len="med"/>
                    </a:lnT>
                    <a:lnB w="6350" cap="flat" cmpd="sng" algn="ctr">
                      <a:solidFill>
                        <a:srgbClr val="E8E5DC"/>
                      </a:solidFill>
                      <a:prstDash val="solid"/>
                      <a:round/>
                      <a:headEnd type="none" w="med" len="med"/>
                      <a:tailEnd type="none" w="med" len="med"/>
                    </a:lnB>
                  </a:tcPr>
                </a:tc>
              </a:tr>
            </a:tbl>
          </a:graphicData>
        </a:graphic>
      </p:graphicFrame>
      <p:sp>
        <p:nvSpPr>
          <p:cNvPr id="20" name="Text 17"/>
          <p:cNvSpPr/>
          <p:nvPr/>
        </p:nvSpPr>
        <p:spPr>
          <a:xfrm>
            <a:off x="457200" y="6492240"/>
            <a:ext cx="10515600" cy="274320"/>
          </a:xfrm>
          <a:prstGeom prst="rect">
            <a:avLst/>
          </a:prstGeom>
          <a:noFill/>
          <a:ln/>
        </p:spPr>
        <p:txBody>
          <a:bodyPr wrap="square" lIns="0" tIns="0" rIns="0" bIns="0" rtlCol="0" anchor="ctr"/>
          <a:lstStyle/>
          <a:p>
            <a:pPr indent="0" marL="0">
              <a:buNone/>
            </a:pPr>
            <a:r>
              <a:rPr lang="en-US" sz="900" i="1" dirty="0">
                <a:solidFill>
                  <a:srgbClr val="82807A"/>
                </a:solidFill>
                <a:latin typeface="Inter" pitchFamily="34" charset="0"/>
                <a:ea typeface="Inter" pitchFamily="34" charset="-122"/>
                <a:cs typeface="Inter" pitchFamily="34" charset="-120"/>
              </a:rPr>
              <a:t>Taxas ilustrativas de maio de 2026. Sempre valide contra a documentação oficial de billing do GitHub Copilot antes de comprometer budgets.</a:t>
            </a:r>
            <a:endParaRPr lang="en-US" sz="900" dirty="0"/>
          </a:p>
        </p:txBody>
      </p:sp>
      <p:sp>
        <p:nvSpPr>
          <p:cNvPr id="21" name="Text 18"/>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7FBA00"/>
                </a:solidFill>
                <a:latin typeface="JetBrains Mono" pitchFamily="34" charset="0"/>
                <a:ea typeface="JetBrains Mono" pitchFamily="34" charset="-122"/>
                <a:cs typeface="JetBrains Mono" pitchFamily="34" charset="-120"/>
              </a:rPr>
              <a:t>A JANELA PROMOCIONAL</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600" dirty="0">
                <a:solidFill>
                  <a:srgbClr val="1A1A19"/>
                </a:solidFill>
                <a:latin typeface="Inter" pitchFamily="34" charset="0"/>
                <a:ea typeface="Inter" pitchFamily="34" charset="-122"/>
                <a:cs typeface="Inter" pitchFamily="34" charset="-120"/>
              </a:rPr>
              <a:t>Junho a setembro de 2026 é um subsídio de aprendizado. Use.</a:t>
            </a:r>
            <a:endParaRPr lang="en-US" sz="3600" dirty="0"/>
          </a:p>
        </p:txBody>
      </p:sp>
      <p:sp>
        <p:nvSpPr>
          <p:cNvPr id="10" name="Shape 8"/>
          <p:cNvSpPr/>
          <p:nvPr/>
        </p:nvSpPr>
        <p:spPr>
          <a:xfrm>
            <a:off x="457200" y="3291840"/>
            <a:ext cx="45720" cy="960120"/>
          </a:xfrm>
          <a:prstGeom prst="rect">
            <a:avLst/>
          </a:prstGeom>
          <a:solidFill>
            <a:srgbClr val="FFB900"/>
          </a:solidFill>
          <a:ln/>
        </p:spPr>
      </p:sp>
      <p:sp>
        <p:nvSpPr>
          <p:cNvPr id="11" name="Text 9"/>
          <p:cNvSpPr/>
          <p:nvPr/>
        </p:nvSpPr>
        <p:spPr>
          <a:xfrm>
            <a:off x="685800" y="3429000"/>
            <a:ext cx="2103120" cy="640080"/>
          </a:xfrm>
          <a:prstGeom prst="rect">
            <a:avLst/>
          </a:prstGeom>
          <a:noFill/>
          <a:ln/>
        </p:spPr>
        <p:txBody>
          <a:bodyPr wrap="square" lIns="0" tIns="0" rIns="0" bIns="0" rtlCol="0" anchor="t"/>
          <a:lstStyle/>
          <a:p>
            <a:pPr indent="0" marL="0">
              <a:buNone/>
            </a:pPr>
            <a:r>
              <a:rPr lang="en-US" sz="1000" b="1" spc="300" kern="0" dirty="0">
                <a:solidFill>
                  <a:srgbClr val="FFB900"/>
                </a:solidFill>
                <a:latin typeface="JetBrains Mono" pitchFamily="34" charset="0"/>
                <a:ea typeface="JetBrains Mono" pitchFamily="34" charset="-122"/>
                <a:cs typeface="JetBrains Mono" pitchFamily="34" charset="-120"/>
              </a:rPr>
              <a:t>Fase 1, pré-virada</a:t>
            </a:r>
            <a:endParaRPr lang="en-US" sz="1000" dirty="0"/>
          </a:p>
        </p:txBody>
      </p:sp>
      <p:sp>
        <p:nvSpPr>
          <p:cNvPr id="12" name="Text 10"/>
          <p:cNvSpPr/>
          <p:nvPr/>
        </p:nvSpPr>
        <p:spPr>
          <a:xfrm>
            <a:off x="2926080" y="3474720"/>
            <a:ext cx="7315200" cy="685800"/>
          </a:xfrm>
          <a:prstGeom prst="rect">
            <a:avLst/>
          </a:prstGeom>
          <a:noFill/>
          <a:ln/>
        </p:spPr>
        <p:txBody>
          <a:bodyPr wrap="square" lIns="0" tIns="0" rIns="0" bIns="0" rtlCol="0" anchor="t"/>
          <a:lstStyle/>
          <a:p>
            <a:pPr indent="0" marL="0">
              <a:buNone/>
            </a:pPr>
            <a:r>
              <a:rPr lang="en-US" sz="1300" dirty="0">
                <a:solidFill>
                  <a:srgbClr val="1A1A19"/>
                </a:solidFill>
                <a:latin typeface="Inter" pitchFamily="34" charset="0"/>
                <a:ea typeface="Inter" pitchFamily="34" charset="-122"/>
                <a:cs typeface="Inter" pitchFamily="34" charset="-120"/>
              </a:rPr>
              <a:t>Rode o relatório Preview Your Usage CSV contra um mês recente. Projete o gasto do time sob o novo modelo com números concretos.</a:t>
            </a:r>
            <a:endParaRPr lang="en-US" sz="1300" dirty="0"/>
          </a:p>
        </p:txBody>
      </p:sp>
      <p:sp>
        <p:nvSpPr>
          <p:cNvPr id="13" name="Text 11"/>
          <p:cNvSpPr/>
          <p:nvPr/>
        </p:nvSpPr>
        <p:spPr>
          <a:xfrm>
            <a:off x="10241280" y="3474720"/>
            <a:ext cx="1645920" cy="365760"/>
          </a:xfrm>
          <a:prstGeom prst="rect">
            <a:avLst/>
          </a:prstGeom>
          <a:noFill/>
          <a:ln/>
        </p:spPr>
        <p:txBody>
          <a:bodyPr wrap="square" lIns="0" tIns="0" rIns="0" bIns="0" rtlCol="0" anchor="t"/>
          <a:lstStyle/>
          <a:p>
            <a:pPr algn="r" indent="0" marL="0">
              <a:buNone/>
            </a:pPr>
            <a:r>
              <a:rPr lang="en-US" sz="1000" dirty="0">
                <a:solidFill>
                  <a:srgbClr val="82807A"/>
                </a:solidFill>
                <a:latin typeface="JetBrains Mono" pitchFamily="34" charset="0"/>
                <a:ea typeface="JetBrains Mono" pitchFamily="34" charset="-122"/>
                <a:cs typeface="JetBrains Mono" pitchFamily="34" charset="-120"/>
              </a:rPr>
              <a:t>Até 31 de maio</a:t>
            </a:r>
            <a:endParaRPr lang="en-US" sz="1000" dirty="0"/>
          </a:p>
        </p:txBody>
      </p:sp>
      <p:sp>
        <p:nvSpPr>
          <p:cNvPr id="14" name="Shape 12"/>
          <p:cNvSpPr/>
          <p:nvPr/>
        </p:nvSpPr>
        <p:spPr>
          <a:xfrm>
            <a:off x="457200" y="4343400"/>
            <a:ext cx="45720" cy="960120"/>
          </a:xfrm>
          <a:prstGeom prst="rect">
            <a:avLst/>
          </a:prstGeom>
          <a:solidFill>
            <a:srgbClr val="7FBA00"/>
          </a:solidFill>
          <a:ln/>
        </p:spPr>
      </p:sp>
      <p:sp>
        <p:nvSpPr>
          <p:cNvPr id="15" name="Text 13"/>
          <p:cNvSpPr/>
          <p:nvPr/>
        </p:nvSpPr>
        <p:spPr>
          <a:xfrm>
            <a:off x="685800" y="4480560"/>
            <a:ext cx="2103120" cy="640080"/>
          </a:xfrm>
          <a:prstGeom prst="rect">
            <a:avLst/>
          </a:prstGeom>
          <a:noFill/>
          <a:ln/>
        </p:spPr>
        <p:txBody>
          <a:bodyPr wrap="square" lIns="0" tIns="0" rIns="0" bIns="0" rtlCol="0" anchor="t"/>
          <a:lstStyle/>
          <a:p>
            <a:pPr indent="0" marL="0">
              <a:buNone/>
            </a:pPr>
            <a:r>
              <a:rPr lang="en-US" sz="1000" b="1" spc="300" kern="0" dirty="0">
                <a:solidFill>
                  <a:srgbClr val="7FBA00"/>
                </a:solidFill>
                <a:latin typeface="JetBrains Mono" pitchFamily="34" charset="0"/>
                <a:ea typeface="JetBrains Mono" pitchFamily="34" charset="-122"/>
                <a:cs typeface="JetBrains Mono" pitchFamily="34" charset="-120"/>
              </a:rPr>
              <a:t>Fase 2, aprendizado</a:t>
            </a:r>
            <a:endParaRPr lang="en-US" sz="1000" dirty="0"/>
          </a:p>
        </p:txBody>
      </p:sp>
      <p:sp>
        <p:nvSpPr>
          <p:cNvPr id="16" name="Text 14"/>
          <p:cNvSpPr/>
          <p:nvPr/>
        </p:nvSpPr>
        <p:spPr>
          <a:xfrm>
            <a:off x="2926080" y="4526280"/>
            <a:ext cx="7315200" cy="685800"/>
          </a:xfrm>
          <a:prstGeom prst="rect">
            <a:avLst/>
          </a:prstGeom>
          <a:noFill/>
          <a:ln/>
        </p:spPr>
        <p:txBody>
          <a:bodyPr wrap="square" lIns="0" tIns="0" rIns="0" bIns="0" rtlCol="0" anchor="t"/>
          <a:lstStyle/>
          <a:p>
            <a:pPr indent="0" marL="0">
              <a:buNone/>
            </a:pPr>
            <a:r>
              <a:rPr lang="en-US" sz="1300" dirty="0">
                <a:solidFill>
                  <a:srgbClr val="1A1A19"/>
                </a:solidFill>
                <a:latin typeface="Inter" pitchFamily="34" charset="0"/>
                <a:ea typeface="Inter" pitchFamily="34" charset="-122"/>
                <a:cs typeface="Inter" pitchFamily="34" charset="-120"/>
              </a:rPr>
              <a:t>Taxas subsidiadas em vigor. Observe quais modelos o time alcança, quais sessões queimam credits, onde prompt caching paga seu custo.</a:t>
            </a:r>
            <a:endParaRPr lang="en-US" sz="1300" dirty="0"/>
          </a:p>
        </p:txBody>
      </p:sp>
      <p:sp>
        <p:nvSpPr>
          <p:cNvPr id="17" name="Text 15"/>
          <p:cNvSpPr/>
          <p:nvPr/>
        </p:nvSpPr>
        <p:spPr>
          <a:xfrm>
            <a:off x="10241280" y="4526280"/>
            <a:ext cx="1645920" cy="365760"/>
          </a:xfrm>
          <a:prstGeom prst="rect">
            <a:avLst/>
          </a:prstGeom>
          <a:noFill/>
          <a:ln/>
        </p:spPr>
        <p:txBody>
          <a:bodyPr wrap="square" lIns="0" tIns="0" rIns="0" bIns="0" rtlCol="0" anchor="t"/>
          <a:lstStyle/>
          <a:p>
            <a:pPr algn="r" indent="0" marL="0">
              <a:buNone/>
            </a:pPr>
            <a:r>
              <a:rPr lang="en-US" sz="1000" dirty="0">
                <a:solidFill>
                  <a:srgbClr val="82807A"/>
                </a:solidFill>
                <a:latin typeface="JetBrains Mono" pitchFamily="34" charset="0"/>
                <a:ea typeface="JetBrains Mono" pitchFamily="34" charset="-122"/>
                <a:cs typeface="JetBrains Mono" pitchFamily="34" charset="-120"/>
              </a:rPr>
              <a:t>1/jun a 1/set</a:t>
            </a:r>
            <a:endParaRPr lang="en-US" sz="1000" dirty="0"/>
          </a:p>
        </p:txBody>
      </p:sp>
      <p:sp>
        <p:nvSpPr>
          <p:cNvPr id="18" name="Shape 16"/>
          <p:cNvSpPr/>
          <p:nvPr/>
        </p:nvSpPr>
        <p:spPr>
          <a:xfrm>
            <a:off x="457200" y="5394960"/>
            <a:ext cx="45720" cy="960120"/>
          </a:xfrm>
          <a:prstGeom prst="rect">
            <a:avLst/>
          </a:prstGeom>
          <a:solidFill>
            <a:srgbClr val="00A4EF"/>
          </a:solidFill>
          <a:ln/>
        </p:spPr>
      </p:sp>
      <p:sp>
        <p:nvSpPr>
          <p:cNvPr id="19" name="Text 17"/>
          <p:cNvSpPr/>
          <p:nvPr/>
        </p:nvSpPr>
        <p:spPr>
          <a:xfrm>
            <a:off x="685800" y="5532120"/>
            <a:ext cx="2103120" cy="640080"/>
          </a:xfrm>
          <a:prstGeom prst="rect">
            <a:avLst/>
          </a:prstGeom>
          <a:noFill/>
          <a:ln/>
        </p:spPr>
        <p:txBody>
          <a:bodyPr wrap="square" lIns="0" tIns="0" rIns="0" bIns="0" rtlCol="0" anchor="t"/>
          <a:lstStyle/>
          <a:p>
            <a:pPr indent="0" marL="0">
              <a:buNone/>
            </a:pPr>
            <a:r>
              <a:rPr lang="en-US" sz="1000" b="1" spc="300" kern="0" dirty="0">
                <a:solidFill>
                  <a:srgbClr val="00A4EF"/>
                </a:solidFill>
                <a:latin typeface="JetBrains Mono" pitchFamily="34" charset="0"/>
                <a:ea typeface="JetBrains Mono" pitchFamily="34" charset="-122"/>
                <a:cs typeface="JetBrains Mono" pitchFamily="34" charset="-120"/>
              </a:rPr>
              <a:t>Fase 3, regime estável</a:t>
            </a:r>
            <a:endParaRPr lang="en-US" sz="1000" dirty="0"/>
          </a:p>
        </p:txBody>
      </p:sp>
      <p:sp>
        <p:nvSpPr>
          <p:cNvPr id="20" name="Text 18"/>
          <p:cNvSpPr/>
          <p:nvPr/>
        </p:nvSpPr>
        <p:spPr>
          <a:xfrm>
            <a:off x="2926080" y="5577840"/>
            <a:ext cx="7315200" cy="685800"/>
          </a:xfrm>
          <a:prstGeom prst="rect">
            <a:avLst/>
          </a:prstGeom>
          <a:noFill/>
          <a:ln/>
        </p:spPr>
        <p:txBody>
          <a:bodyPr wrap="square" lIns="0" tIns="0" rIns="0" bIns="0" rtlCol="0" anchor="t"/>
          <a:lstStyle/>
          <a:p>
            <a:pPr indent="0" marL="0">
              <a:buNone/>
            </a:pPr>
            <a:r>
              <a:rPr lang="en-US" sz="1300" dirty="0">
                <a:solidFill>
                  <a:srgbClr val="1A1A19"/>
                </a:solidFill>
                <a:latin typeface="Inter" pitchFamily="34" charset="0"/>
                <a:ea typeface="Inter" pitchFamily="34" charset="-122"/>
                <a:cs typeface="Inter" pitchFamily="34" charset="-120"/>
              </a:rPr>
              <a:t>Taxas cheias ativas. Budgets dimensionados pela projeção, política de modelos no lugar, prompt caching deployado, time treinado para ler a fatura.</a:t>
            </a:r>
            <a:endParaRPr lang="en-US" sz="1300" dirty="0"/>
          </a:p>
        </p:txBody>
      </p:sp>
      <p:sp>
        <p:nvSpPr>
          <p:cNvPr id="21" name="Text 19"/>
          <p:cNvSpPr/>
          <p:nvPr/>
        </p:nvSpPr>
        <p:spPr>
          <a:xfrm>
            <a:off x="10241280" y="5577840"/>
            <a:ext cx="1645920" cy="365760"/>
          </a:xfrm>
          <a:prstGeom prst="rect">
            <a:avLst/>
          </a:prstGeom>
          <a:noFill/>
          <a:ln/>
        </p:spPr>
        <p:txBody>
          <a:bodyPr wrap="square" lIns="0" tIns="0" rIns="0" bIns="0" rtlCol="0" anchor="t"/>
          <a:lstStyle/>
          <a:p>
            <a:pPr algn="r" indent="0" marL="0">
              <a:buNone/>
            </a:pPr>
            <a:r>
              <a:rPr lang="en-US" sz="1000" dirty="0">
                <a:solidFill>
                  <a:srgbClr val="82807A"/>
                </a:solidFill>
                <a:latin typeface="JetBrains Mono" pitchFamily="34" charset="0"/>
                <a:ea typeface="JetBrains Mono" pitchFamily="34" charset="-122"/>
                <a:cs typeface="JetBrains Mono" pitchFamily="34" charset="-120"/>
              </a:rPr>
              <a:t>A partir de 1/set</a:t>
            </a:r>
            <a:endParaRPr lang="en-US" sz="1000" dirty="0"/>
          </a:p>
        </p:txBody>
      </p:sp>
      <p:sp>
        <p:nvSpPr>
          <p:cNvPr id="22" name="Text 2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F0E"/>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B8B6AE"/>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2286000"/>
            <a:ext cx="3657600" cy="457200"/>
          </a:xfrm>
          <a:prstGeom prst="rect">
            <a:avLst/>
          </a:prstGeom>
          <a:noFill/>
          <a:ln/>
        </p:spPr>
        <p:txBody>
          <a:bodyPr wrap="square" lIns="0" tIns="0" rIns="0" bIns="0" rtlCol="0" anchor="ctr"/>
          <a:lstStyle/>
          <a:p>
            <a:pPr indent="0" marL="0">
              <a:buNone/>
            </a:pPr>
            <a:r>
              <a:rPr lang="en-US" sz="1400" b="1" spc="600" kern="0" dirty="0">
                <a:solidFill>
                  <a:srgbClr val="00A4EF"/>
                </a:solidFill>
                <a:latin typeface="JetBrains Mono" pitchFamily="34" charset="0"/>
                <a:ea typeface="JetBrains Mono" pitchFamily="34" charset="-122"/>
                <a:cs typeface="JetBrains Mono" pitchFamily="34" charset="-120"/>
              </a:rPr>
              <a:t>PARTE</a:t>
            </a:r>
            <a:endParaRPr lang="en-US" sz="1400" dirty="0"/>
          </a:p>
        </p:txBody>
      </p:sp>
      <p:sp>
        <p:nvSpPr>
          <p:cNvPr id="9" name="Text 7"/>
          <p:cNvSpPr/>
          <p:nvPr/>
        </p:nvSpPr>
        <p:spPr>
          <a:xfrm>
            <a:off x="457200" y="2651760"/>
            <a:ext cx="4572000" cy="2743200"/>
          </a:xfrm>
          <a:prstGeom prst="rect">
            <a:avLst/>
          </a:prstGeom>
          <a:noFill/>
          <a:ln/>
        </p:spPr>
        <p:txBody>
          <a:bodyPr wrap="square" lIns="0" tIns="0" rIns="0" bIns="0" rtlCol="0" anchor="t"/>
          <a:lstStyle/>
          <a:p>
            <a:pPr indent="0" marL="0">
              <a:buNone/>
            </a:pPr>
            <a:r>
              <a:rPr lang="en-US" sz="14000" b="1" dirty="0">
                <a:solidFill>
                  <a:srgbClr val="00A4EF"/>
                </a:solidFill>
                <a:latin typeface="Inter" pitchFamily="34" charset="0"/>
                <a:ea typeface="Inter" pitchFamily="34" charset="-122"/>
                <a:cs typeface="Inter" pitchFamily="34" charset="-120"/>
              </a:rPr>
              <a:t>04</a:t>
            </a:r>
            <a:endParaRPr lang="en-US" sz="14000" dirty="0"/>
          </a:p>
        </p:txBody>
      </p:sp>
      <p:sp>
        <p:nvSpPr>
          <p:cNvPr id="10" name="Text 8"/>
          <p:cNvSpPr/>
          <p:nvPr/>
        </p:nvSpPr>
        <p:spPr>
          <a:xfrm>
            <a:off x="5486400" y="3200400"/>
            <a:ext cx="6400800" cy="914400"/>
          </a:xfrm>
          <a:prstGeom prst="rect">
            <a:avLst/>
          </a:prstGeom>
          <a:noFill/>
          <a:ln/>
        </p:spPr>
        <p:txBody>
          <a:bodyPr wrap="square" lIns="0" tIns="0" rIns="0" bIns="0" rtlCol="0" anchor="t"/>
          <a:lstStyle/>
          <a:p>
            <a:pPr indent="0" marL="0">
              <a:buNone/>
            </a:pPr>
            <a:r>
              <a:rPr lang="en-US" sz="5000" dirty="0">
                <a:solidFill>
                  <a:srgbClr val="F0F0EB"/>
                </a:solidFill>
                <a:latin typeface="Inter" pitchFamily="34" charset="0"/>
                <a:ea typeface="Inter" pitchFamily="34" charset="-122"/>
                <a:cs typeface="Inter" pitchFamily="34" charset="-120"/>
              </a:rPr>
              <a:t>Design de agentes.</a:t>
            </a:r>
            <a:endParaRPr lang="en-US" sz="5000" dirty="0"/>
          </a:p>
        </p:txBody>
      </p:sp>
      <p:sp>
        <p:nvSpPr>
          <p:cNvPr id="11" name="Text 9"/>
          <p:cNvSpPr/>
          <p:nvPr/>
        </p:nvSpPr>
        <p:spPr>
          <a:xfrm>
            <a:off x="5486400" y="4297680"/>
            <a:ext cx="6400800" cy="1371600"/>
          </a:xfrm>
          <a:prstGeom prst="rect">
            <a:avLst/>
          </a:prstGeom>
          <a:noFill/>
          <a:ln/>
        </p:spPr>
        <p:txBody>
          <a:bodyPr wrap="square" lIns="0" tIns="0" rIns="0" bIns="0" rtlCol="0" anchor="t"/>
          <a:lstStyle/>
          <a:p>
            <a:pPr indent="0" marL="0">
              <a:buNone/>
            </a:pPr>
            <a:r>
              <a:rPr lang="en-US" sz="1500" dirty="0">
                <a:solidFill>
                  <a:srgbClr val="B8B6AE"/>
                </a:solidFill>
                <a:latin typeface="Inter" pitchFamily="34" charset="0"/>
                <a:ea typeface="Inter" pitchFamily="34" charset="-122"/>
                <a:cs typeface="Inter" pitchFamily="34" charset="-120"/>
              </a:rPr>
              <a:t>Quando um agente paga seu custo, quando workflow é a resposta certa, e como subagentes economizam budget.</a:t>
            </a:r>
            <a:endParaRPr lang="en-US" sz="1500" dirty="0"/>
          </a:p>
        </p:txBody>
      </p:sp>
      <p:sp>
        <p:nvSpPr>
          <p:cNvPr id="12" name="Text 1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7FBA00"/>
                </a:solidFill>
                <a:latin typeface="JetBrains Mono" pitchFamily="34" charset="0"/>
                <a:ea typeface="JetBrains Mono" pitchFamily="34" charset="-122"/>
                <a:cs typeface="JetBrains Mono" pitchFamily="34" charset="-120"/>
              </a:rPr>
              <a:t>UMA DECISÃO DE DESIGN ANTES DE SER UMA DECISÃO DE CUSTO</a:t>
            </a:r>
            <a:endParaRPr lang="en-US" sz="1000" dirty="0"/>
          </a:p>
        </p:txBody>
      </p:sp>
      <p:sp>
        <p:nvSpPr>
          <p:cNvPr id="9" name="Text 7"/>
          <p:cNvSpPr/>
          <p:nvPr/>
        </p:nvSpPr>
        <p:spPr>
          <a:xfrm>
            <a:off x="457200" y="1325880"/>
            <a:ext cx="11247120" cy="914400"/>
          </a:xfrm>
          <a:prstGeom prst="rect">
            <a:avLst/>
          </a:prstGeom>
          <a:noFill/>
          <a:ln/>
        </p:spPr>
        <p:txBody>
          <a:bodyPr wrap="square" lIns="0" tIns="0" rIns="0" bIns="0" rtlCol="0" anchor="t"/>
          <a:lstStyle/>
          <a:p>
            <a:pPr indent="0" marL="0">
              <a:buNone/>
            </a:pPr>
            <a:r>
              <a:rPr lang="en-US" sz="2600" dirty="0">
                <a:solidFill>
                  <a:srgbClr val="1A1A19"/>
                </a:solidFill>
                <a:latin typeface="Inter" pitchFamily="34" charset="0"/>
                <a:ea typeface="Inter" pitchFamily="34" charset="-122"/>
                <a:cs typeface="Inter" pitchFamily="34" charset="-120"/>
              </a:rPr>
              <a:t>A maioria do AI em produção é workflow. Reserve o agente para o que só um agente faz.</a:t>
            </a:r>
            <a:endParaRPr lang="en-US" sz="2600" dirty="0"/>
          </a:p>
        </p:txBody>
      </p:sp>
      <p:sp>
        <p:nvSpPr>
          <p:cNvPr id="10" name="Shape 8"/>
          <p:cNvSpPr/>
          <p:nvPr/>
        </p:nvSpPr>
        <p:spPr>
          <a:xfrm>
            <a:off x="454000" y="3108960"/>
            <a:ext cx="2697480" cy="2286000"/>
          </a:xfrm>
          <a:prstGeom prst="rect">
            <a:avLst/>
          </a:prstGeom>
          <a:solidFill>
            <a:srgbClr val="F8F7F2"/>
          </a:solidFill>
          <a:ln w="6350">
            <a:solidFill>
              <a:srgbClr val="E8E5DC"/>
            </a:solidFill>
            <a:prstDash val="solid"/>
          </a:ln>
        </p:spPr>
      </p:sp>
      <p:sp>
        <p:nvSpPr>
          <p:cNvPr id="11" name="Shape 9"/>
          <p:cNvSpPr/>
          <p:nvPr/>
        </p:nvSpPr>
        <p:spPr>
          <a:xfrm>
            <a:off x="454000" y="3108960"/>
            <a:ext cx="2697480" cy="73152"/>
          </a:xfrm>
          <a:prstGeom prst="rect">
            <a:avLst/>
          </a:prstGeom>
          <a:solidFill>
            <a:srgbClr val="00A4EF"/>
          </a:solidFill>
          <a:ln/>
        </p:spPr>
      </p:sp>
      <p:sp>
        <p:nvSpPr>
          <p:cNvPr id="12" name="Text 10"/>
          <p:cNvSpPr/>
          <p:nvPr/>
        </p:nvSpPr>
        <p:spPr>
          <a:xfrm>
            <a:off x="636880" y="3383280"/>
            <a:ext cx="2331720" cy="274320"/>
          </a:xfrm>
          <a:prstGeom prst="rect">
            <a:avLst/>
          </a:prstGeom>
          <a:noFill/>
          <a:ln/>
        </p:spPr>
        <p:txBody>
          <a:bodyPr wrap="square" lIns="0" tIns="0" rIns="0" bIns="0" rtlCol="0" anchor="t"/>
          <a:lstStyle/>
          <a:p>
            <a:pPr indent="0" marL="0">
              <a:buNone/>
            </a:pPr>
            <a:r>
              <a:rPr lang="en-US" sz="900" b="1" spc="300" kern="0" dirty="0">
                <a:solidFill>
                  <a:srgbClr val="00A4EF"/>
                </a:solidFill>
                <a:latin typeface="JetBrains Mono" pitchFamily="34" charset="0"/>
                <a:ea typeface="JetBrains Mono" pitchFamily="34" charset="-122"/>
                <a:cs typeface="JetBrains Mono" pitchFamily="34" charset="-120"/>
              </a:rPr>
              <a:t>WORKFLOW</a:t>
            </a:r>
            <a:endParaRPr lang="en-US" sz="900" dirty="0"/>
          </a:p>
        </p:txBody>
      </p:sp>
      <p:sp>
        <p:nvSpPr>
          <p:cNvPr id="13" name="Text 11"/>
          <p:cNvSpPr/>
          <p:nvPr/>
        </p:nvSpPr>
        <p:spPr>
          <a:xfrm>
            <a:off x="636880" y="3703320"/>
            <a:ext cx="2331720" cy="73152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Código chama modelo</a:t>
            </a:r>
            <a:endParaRPr lang="en-US" sz="1400" dirty="0"/>
          </a:p>
        </p:txBody>
      </p:sp>
      <p:sp>
        <p:nvSpPr>
          <p:cNvPr id="14" name="Text 12"/>
          <p:cNvSpPr/>
          <p:nvPr/>
        </p:nvSpPr>
        <p:spPr>
          <a:xfrm>
            <a:off x="636880" y="4434840"/>
            <a:ext cx="2331720" cy="640080"/>
          </a:xfrm>
          <a:prstGeom prst="rect">
            <a:avLst/>
          </a:prstGeom>
          <a:noFill/>
          <a:ln/>
        </p:spPr>
        <p:txBody>
          <a:bodyPr wrap="square" lIns="0" tIns="0" rIns="0" bIns="0" rtlCol="0" anchor="t"/>
          <a:lstStyle/>
          <a:p>
            <a:pPr indent="0" marL="0">
              <a:buNone/>
            </a:pPr>
            <a:r>
              <a:rPr lang="en-US" sz="1000" dirty="0">
                <a:solidFill>
                  <a:srgbClr val="5C5A52"/>
                </a:solidFill>
                <a:latin typeface="Inter" pitchFamily="34" charset="0"/>
                <a:ea typeface="Inter" pitchFamily="34" charset="-122"/>
                <a:cs typeface="Inter" pitchFamily="34" charset="-120"/>
              </a:rPr>
              <a:t>Custo previsível. Fácil de monitorar e fazer rollback. Certo para classificação, sumarização, extração estruturada.</a:t>
            </a:r>
            <a:endParaRPr lang="en-US" sz="1000" dirty="0"/>
          </a:p>
        </p:txBody>
      </p:sp>
      <p:sp>
        <p:nvSpPr>
          <p:cNvPr id="15" name="Shape 13"/>
          <p:cNvSpPr/>
          <p:nvPr/>
        </p:nvSpPr>
        <p:spPr>
          <a:xfrm>
            <a:off x="636880" y="5029200"/>
            <a:ext cx="2331720" cy="0"/>
          </a:xfrm>
          <a:prstGeom prst="line">
            <a:avLst/>
          </a:prstGeom>
          <a:noFill/>
          <a:ln w="6350">
            <a:solidFill>
              <a:srgbClr val="E8E5DC"/>
            </a:solidFill>
            <a:prstDash val="solid"/>
          </a:ln>
        </p:spPr>
      </p:sp>
      <p:sp>
        <p:nvSpPr>
          <p:cNvPr id="16" name="Text 14"/>
          <p:cNvSpPr/>
          <p:nvPr/>
        </p:nvSpPr>
        <p:spPr>
          <a:xfrm>
            <a:off x="636880" y="5074920"/>
            <a:ext cx="2331720" cy="274320"/>
          </a:xfrm>
          <a:prstGeom prst="rect">
            <a:avLst/>
          </a:prstGeom>
          <a:noFill/>
          <a:ln/>
        </p:spPr>
        <p:txBody>
          <a:bodyPr wrap="square" lIns="0" tIns="0" rIns="0" bIns="0" rtlCol="0" anchor="t"/>
          <a:lstStyle/>
          <a:p>
            <a:pPr indent="0" marL="0">
              <a:buNone/>
            </a:pPr>
            <a:r>
              <a:rPr lang="en-US" sz="800" spc="200" kern="0" dirty="0">
                <a:solidFill>
                  <a:srgbClr val="82807A"/>
                </a:solidFill>
                <a:latin typeface="JetBrains Mono" pitchFamily="34" charset="0"/>
                <a:ea typeface="JetBrains Mono" pitchFamily="34" charset="-122"/>
                <a:cs typeface="JetBrains Mono" pitchFamily="34" charset="-120"/>
              </a:rPr>
              <a:t>ex. extrair campos de notas</a:t>
            </a:r>
            <a:endParaRPr lang="en-US" sz="800" dirty="0"/>
          </a:p>
        </p:txBody>
      </p:sp>
      <p:sp>
        <p:nvSpPr>
          <p:cNvPr id="17" name="Shape 15"/>
          <p:cNvSpPr/>
          <p:nvPr/>
        </p:nvSpPr>
        <p:spPr>
          <a:xfrm>
            <a:off x="3316072" y="3108960"/>
            <a:ext cx="2697480" cy="2286000"/>
          </a:xfrm>
          <a:prstGeom prst="rect">
            <a:avLst/>
          </a:prstGeom>
          <a:solidFill>
            <a:srgbClr val="F8F7F2"/>
          </a:solidFill>
          <a:ln w="6350">
            <a:solidFill>
              <a:srgbClr val="E8E5DC"/>
            </a:solidFill>
            <a:prstDash val="solid"/>
          </a:ln>
        </p:spPr>
      </p:sp>
      <p:sp>
        <p:nvSpPr>
          <p:cNvPr id="18" name="Shape 16"/>
          <p:cNvSpPr/>
          <p:nvPr/>
        </p:nvSpPr>
        <p:spPr>
          <a:xfrm>
            <a:off x="3316072" y="3108960"/>
            <a:ext cx="2697480" cy="73152"/>
          </a:xfrm>
          <a:prstGeom prst="rect">
            <a:avLst/>
          </a:prstGeom>
          <a:solidFill>
            <a:srgbClr val="FFB900"/>
          </a:solidFill>
          <a:ln/>
        </p:spPr>
      </p:sp>
      <p:sp>
        <p:nvSpPr>
          <p:cNvPr id="19" name="Text 17"/>
          <p:cNvSpPr/>
          <p:nvPr/>
        </p:nvSpPr>
        <p:spPr>
          <a:xfrm>
            <a:off x="3498952" y="3383280"/>
            <a:ext cx="2331720" cy="274320"/>
          </a:xfrm>
          <a:prstGeom prst="rect">
            <a:avLst/>
          </a:prstGeom>
          <a:noFill/>
          <a:ln/>
        </p:spPr>
        <p:txBody>
          <a:bodyPr wrap="square" lIns="0" tIns="0" rIns="0" bIns="0" rtlCol="0" anchor="t"/>
          <a:lstStyle/>
          <a:p>
            <a:pPr indent="0" marL="0">
              <a:buNone/>
            </a:pPr>
            <a:r>
              <a:rPr lang="en-US" sz="900" b="1" spc="300" kern="0" dirty="0">
                <a:solidFill>
                  <a:srgbClr val="FFB900"/>
                </a:solidFill>
                <a:latin typeface="JetBrains Mono" pitchFamily="34" charset="0"/>
                <a:ea typeface="JetBrains Mono" pitchFamily="34" charset="-122"/>
                <a:cs typeface="JetBrains Mono" pitchFamily="34" charset="-120"/>
              </a:rPr>
              <a:t>AUGMENTADO</a:t>
            </a:r>
            <a:endParaRPr lang="en-US" sz="900" dirty="0"/>
          </a:p>
        </p:txBody>
      </p:sp>
      <p:sp>
        <p:nvSpPr>
          <p:cNvPr id="20" name="Text 18"/>
          <p:cNvSpPr/>
          <p:nvPr/>
        </p:nvSpPr>
        <p:spPr>
          <a:xfrm>
            <a:off x="3498952" y="3703320"/>
            <a:ext cx="2331720" cy="73152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Código chama modelo em loop</a:t>
            </a:r>
            <a:endParaRPr lang="en-US" sz="1400" dirty="0"/>
          </a:p>
        </p:txBody>
      </p:sp>
      <p:sp>
        <p:nvSpPr>
          <p:cNvPr id="21" name="Text 19"/>
          <p:cNvSpPr/>
          <p:nvPr/>
        </p:nvSpPr>
        <p:spPr>
          <a:xfrm>
            <a:off x="3498952" y="4434840"/>
            <a:ext cx="2331720" cy="640080"/>
          </a:xfrm>
          <a:prstGeom prst="rect">
            <a:avLst/>
          </a:prstGeom>
          <a:noFill/>
          <a:ln/>
        </p:spPr>
        <p:txBody>
          <a:bodyPr wrap="square" lIns="0" tIns="0" rIns="0" bIns="0" rtlCol="0" anchor="t"/>
          <a:lstStyle/>
          <a:p>
            <a:pPr indent="0" marL="0">
              <a:buNone/>
            </a:pPr>
            <a:r>
              <a:rPr lang="en-US" sz="1000" dirty="0">
                <a:solidFill>
                  <a:srgbClr val="5C5A52"/>
                </a:solidFill>
                <a:latin typeface="Inter" pitchFamily="34" charset="0"/>
                <a:ea typeface="Inter" pitchFamily="34" charset="-122"/>
                <a:cs typeface="Inter" pitchFamily="34" charset="-120"/>
              </a:rPr>
              <a:t>Custo moderado. Forma previsível, profundidade variável. Loop com iterações limitadas e fallback.</a:t>
            </a:r>
            <a:endParaRPr lang="en-US" sz="1000" dirty="0"/>
          </a:p>
        </p:txBody>
      </p:sp>
      <p:sp>
        <p:nvSpPr>
          <p:cNvPr id="22" name="Shape 20"/>
          <p:cNvSpPr/>
          <p:nvPr/>
        </p:nvSpPr>
        <p:spPr>
          <a:xfrm>
            <a:off x="3498952" y="5029200"/>
            <a:ext cx="2331720" cy="0"/>
          </a:xfrm>
          <a:prstGeom prst="line">
            <a:avLst/>
          </a:prstGeom>
          <a:noFill/>
          <a:ln w="6350">
            <a:solidFill>
              <a:srgbClr val="E8E5DC"/>
            </a:solidFill>
            <a:prstDash val="solid"/>
          </a:ln>
        </p:spPr>
      </p:sp>
      <p:sp>
        <p:nvSpPr>
          <p:cNvPr id="23" name="Text 21"/>
          <p:cNvSpPr/>
          <p:nvPr/>
        </p:nvSpPr>
        <p:spPr>
          <a:xfrm>
            <a:off x="3498952" y="5074920"/>
            <a:ext cx="2331720" cy="274320"/>
          </a:xfrm>
          <a:prstGeom prst="rect">
            <a:avLst/>
          </a:prstGeom>
          <a:noFill/>
          <a:ln/>
        </p:spPr>
        <p:txBody>
          <a:bodyPr wrap="square" lIns="0" tIns="0" rIns="0" bIns="0" rtlCol="0" anchor="t"/>
          <a:lstStyle/>
          <a:p>
            <a:pPr indent="0" marL="0">
              <a:buNone/>
            </a:pPr>
            <a:r>
              <a:rPr lang="en-US" sz="800" spc="200" kern="0" dirty="0">
                <a:solidFill>
                  <a:srgbClr val="82807A"/>
                </a:solidFill>
                <a:latin typeface="JetBrains Mono" pitchFamily="34" charset="0"/>
                <a:ea typeface="JetBrains Mono" pitchFamily="34" charset="-122"/>
                <a:cs typeface="JetBrains Mono" pitchFamily="34" charset="-120"/>
              </a:rPr>
              <a:t>ex. pesquisa com retries</a:t>
            </a:r>
            <a:endParaRPr lang="en-US" sz="800" dirty="0"/>
          </a:p>
        </p:txBody>
      </p:sp>
      <p:sp>
        <p:nvSpPr>
          <p:cNvPr id="24" name="Shape 22"/>
          <p:cNvSpPr/>
          <p:nvPr/>
        </p:nvSpPr>
        <p:spPr>
          <a:xfrm>
            <a:off x="6178144" y="3108960"/>
            <a:ext cx="2697480" cy="2286000"/>
          </a:xfrm>
          <a:prstGeom prst="rect">
            <a:avLst/>
          </a:prstGeom>
          <a:solidFill>
            <a:srgbClr val="F8F7F2"/>
          </a:solidFill>
          <a:ln w="6350">
            <a:solidFill>
              <a:srgbClr val="E8E5DC"/>
            </a:solidFill>
            <a:prstDash val="solid"/>
          </a:ln>
        </p:spPr>
      </p:sp>
      <p:sp>
        <p:nvSpPr>
          <p:cNvPr id="25" name="Shape 23"/>
          <p:cNvSpPr/>
          <p:nvPr/>
        </p:nvSpPr>
        <p:spPr>
          <a:xfrm>
            <a:off x="6178144" y="3108960"/>
            <a:ext cx="2697480" cy="73152"/>
          </a:xfrm>
          <a:prstGeom prst="rect">
            <a:avLst/>
          </a:prstGeom>
          <a:solidFill>
            <a:srgbClr val="7FBA00"/>
          </a:solidFill>
          <a:ln/>
        </p:spPr>
      </p:sp>
      <p:sp>
        <p:nvSpPr>
          <p:cNvPr id="26" name="Text 24"/>
          <p:cNvSpPr/>
          <p:nvPr/>
        </p:nvSpPr>
        <p:spPr>
          <a:xfrm>
            <a:off x="6361024" y="3383280"/>
            <a:ext cx="2331720" cy="274320"/>
          </a:xfrm>
          <a:prstGeom prst="rect">
            <a:avLst/>
          </a:prstGeom>
          <a:noFill/>
          <a:ln/>
        </p:spPr>
        <p:txBody>
          <a:bodyPr wrap="square" lIns="0" tIns="0" rIns="0" bIns="0" rtlCol="0" anchor="t"/>
          <a:lstStyle/>
          <a:p>
            <a:pPr indent="0" marL="0">
              <a:buNone/>
            </a:pPr>
            <a:r>
              <a:rPr lang="en-US" sz="900" b="1" spc="300" kern="0" dirty="0">
                <a:solidFill>
                  <a:srgbClr val="7FBA00"/>
                </a:solidFill>
                <a:latin typeface="JetBrains Mono" pitchFamily="34" charset="0"/>
                <a:ea typeface="JetBrains Mono" pitchFamily="34" charset="-122"/>
                <a:cs typeface="JetBrains Mono" pitchFamily="34" charset="-120"/>
              </a:rPr>
              <a:t>AGENTE</a:t>
            </a:r>
            <a:endParaRPr lang="en-US" sz="900" dirty="0"/>
          </a:p>
        </p:txBody>
      </p:sp>
      <p:sp>
        <p:nvSpPr>
          <p:cNvPr id="27" name="Text 25"/>
          <p:cNvSpPr/>
          <p:nvPr/>
        </p:nvSpPr>
        <p:spPr>
          <a:xfrm>
            <a:off x="6361024" y="3703320"/>
            <a:ext cx="2331720" cy="73152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Modelo escolhe tools e adapta</a:t>
            </a:r>
            <a:endParaRPr lang="en-US" sz="1400" dirty="0"/>
          </a:p>
        </p:txBody>
      </p:sp>
      <p:sp>
        <p:nvSpPr>
          <p:cNvPr id="28" name="Text 26"/>
          <p:cNvSpPr/>
          <p:nvPr/>
        </p:nvSpPr>
        <p:spPr>
          <a:xfrm>
            <a:off x="6361024" y="4434840"/>
            <a:ext cx="2331720" cy="640080"/>
          </a:xfrm>
          <a:prstGeom prst="rect">
            <a:avLst/>
          </a:prstGeom>
          <a:noFill/>
          <a:ln/>
        </p:spPr>
        <p:txBody>
          <a:bodyPr wrap="square" lIns="0" tIns="0" rIns="0" bIns="0" rtlCol="0" anchor="t"/>
          <a:lstStyle/>
          <a:p>
            <a:pPr indent="0" marL="0">
              <a:buNone/>
            </a:pPr>
            <a:r>
              <a:rPr lang="en-US" sz="1000" dirty="0">
                <a:solidFill>
                  <a:srgbClr val="5C5A52"/>
                </a:solidFill>
                <a:latin typeface="Inter" pitchFamily="34" charset="0"/>
                <a:ea typeface="Inter" pitchFamily="34" charset="-122"/>
                <a:cs typeface="Inter" pitchFamily="34" charset="-120"/>
              </a:rPr>
              <a:t>Custo variável. Caminho desconhecido. Certo quando passos dependem dos dados ou precisa raciocínio humano.</a:t>
            </a:r>
            <a:endParaRPr lang="en-US" sz="1000" dirty="0"/>
          </a:p>
        </p:txBody>
      </p:sp>
      <p:sp>
        <p:nvSpPr>
          <p:cNvPr id="29" name="Shape 27"/>
          <p:cNvSpPr/>
          <p:nvPr/>
        </p:nvSpPr>
        <p:spPr>
          <a:xfrm>
            <a:off x="6361024" y="5029200"/>
            <a:ext cx="2331720" cy="0"/>
          </a:xfrm>
          <a:prstGeom prst="line">
            <a:avLst/>
          </a:prstGeom>
          <a:noFill/>
          <a:ln w="6350">
            <a:solidFill>
              <a:srgbClr val="E8E5DC"/>
            </a:solidFill>
            <a:prstDash val="solid"/>
          </a:ln>
        </p:spPr>
      </p:sp>
      <p:sp>
        <p:nvSpPr>
          <p:cNvPr id="30" name="Text 28"/>
          <p:cNvSpPr/>
          <p:nvPr/>
        </p:nvSpPr>
        <p:spPr>
          <a:xfrm>
            <a:off x="6361024" y="5074920"/>
            <a:ext cx="2331720" cy="274320"/>
          </a:xfrm>
          <a:prstGeom prst="rect">
            <a:avLst/>
          </a:prstGeom>
          <a:noFill/>
          <a:ln/>
        </p:spPr>
        <p:txBody>
          <a:bodyPr wrap="square" lIns="0" tIns="0" rIns="0" bIns="0" rtlCol="0" anchor="t"/>
          <a:lstStyle/>
          <a:p>
            <a:pPr indent="0" marL="0">
              <a:buNone/>
            </a:pPr>
            <a:r>
              <a:rPr lang="en-US" sz="800" spc="200" kern="0" dirty="0">
                <a:solidFill>
                  <a:srgbClr val="82807A"/>
                </a:solidFill>
                <a:latin typeface="JetBrains Mono" pitchFamily="34" charset="0"/>
                <a:ea typeface="JetBrains Mono" pitchFamily="34" charset="-122"/>
                <a:cs typeface="JetBrains Mono" pitchFamily="34" charset="-120"/>
              </a:rPr>
              <a:t>ex. refatorar entre arquivos</a:t>
            </a:r>
            <a:endParaRPr lang="en-US" sz="800" dirty="0"/>
          </a:p>
        </p:txBody>
      </p:sp>
      <p:sp>
        <p:nvSpPr>
          <p:cNvPr id="31" name="Shape 29"/>
          <p:cNvSpPr/>
          <p:nvPr/>
        </p:nvSpPr>
        <p:spPr>
          <a:xfrm>
            <a:off x="9040216" y="3108960"/>
            <a:ext cx="2697480" cy="2286000"/>
          </a:xfrm>
          <a:prstGeom prst="rect">
            <a:avLst/>
          </a:prstGeom>
          <a:solidFill>
            <a:srgbClr val="F8F7F2"/>
          </a:solidFill>
          <a:ln w="6350">
            <a:solidFill>
              <a:srgbClr val="E8E5DC"/>
            </a:solidFill>
            <a:prstDash val="solid"/>
          </a:ln>
        </p:spPr>
      </p:sp>
      <p:sp>
        <p:nvSpPr>
          <p:cNvPr id="32" name="Shape 30"/>
          <p:cNvSpPr/>
          <p:nvPr/>
        </p:nvSpPr>
        <p:spPr>
          <a:xfrm>
            <a:off x="9040216" y="3108960"/>
            <a:ext cx="2697480" cy="73152"/>
          </a:xfrm>
          <a:prstGeom prst="rect">
            <a:avLst/>
          </a:prstGeom>
          <a:solidFill>
            <a:srgbClr val="F25022"/>
          </a:solidFill>
          <a:ln/>
        </p:spPr>
      </p:sp>
      <p:sp>
        <p:nvSpPr>
          <p:cNvPr id="33" name="Text 31"/>
          <p:cNvSpPr/>
          <p:nvPr/>
        </p:nvSpPr>
        <p:spPr>
          <a:xfrm>
            <a:off x="9223096" y="3383280"/>
            <a:ext cx="2331720" cy="274320"/>
          </a:xfrm>
          <a:prstGeom prst="rect">
            <a:avLst/>
          </a:prstGeom>
          <a:noFill/>
          <a:ln/>
        </p:spPr>
        <p:txBody>
          <a:bodyPr wrap="square" lIns="0" tIns="0" rIns="0" bIns="0" rtlCol="0" anchor="t"/>
          <a:lstStyle/>
          <a:p>
            <a:pPr indent="0" marL="0">
              <a:buNone/>
            </a:pPr>
            <a:r>
              <a:rPr lang="en-US" sz="900" b="1" spc="300" kern="0" dirty="0">
                <a:solidFill>
                  <a:srgbClr val="F25022"/>
                </a:solidFill>
                <a:latin typeface="JetBrains Mono" pitchFamily="34" charset="0"/>
                <a:ea typeface="JetBrains Mono" pitchFamily="34" charset="-122"/>
                <a:cs typeface="JetBrains Mono" pitchFamily="34" charset="-120"/>
              </a:rPr>
              <a:t>AUTÔNOMO</a:t>
            </a:r>
            <a:endParaRPr lang="en-US" sz="900" dirty="0"/>
          </a:p>
        </p:txBody>
      </p:sp>
      <p:sp>
        <p:nvSpPr>
          <p:cNvPr id="34" name="Text 32"/>
          <p:cNvSpPr/>
          <p:nvPr/>
        </p:nvSpPr>
        <p:spPr>
          <a:xfrm>
            <a:off x="9223096" y="3703320"/>
            <a:ext cx="2331720" cy="73152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Modelo cria subagentes</a:t>
            </a:r>
            <a:endParaRPr lang="en-US" sz="1400" dirty="0"/>
          </a:p>
        </p:txBody>
      </p:sp>
      <p:sp>
        <p:nvSpPr>
          <p:cNvPr id="35" name="Text 33"/>
          <p:cNvSpPr/>
          <p:nvPr/>
        </p:nvSpPr>
        <p:spPr>
          <a:xfrm>
            <a:off x="9223096" y="4434840"/>
            <a:ext cx="2331720" cy="640080"/>
          </a:xfrm>
          <a:prstGeom prst="rect">
            <a:avLst/>
          </a:prstGeom>
          <a:noFill/>
          <a:ln/>
        </p:spPr>
        <p:txBody>
          <a:bodyPr wrap="square" lIns="0" tIns="0" rIns="0" bIns="0" rtlCol="0" anchor="t"/>
          <a:lstStyle/>
          <a:p>
            <a:pPr indent="0" marL="0">
              <a:buNone/>
            </a:pPr>
            <a:r>
              <a:rPr lang="en-US" sz="1000" dirty="0">
                <a:solidFill>
                  <a:srgbClr val="5C5A52"/>
                </a:solidFill>
                <a:latin typeface="Inter" pitchFamily="34" charset="0"/>
                <a:ea typeface="Inter" pitchFamily="34" charset="-122"/>
                <a:cs typeface="Inter" pitchFamily="34" charset="-120"/>
              </a:rPr>
              <a:t>Custo imprevisível, pode rodar por horas. Reserve para trabalho end-to-end onde só isso entrega valor.</a:t>
            </a:r>
            <a:endParaRPr lang="en-US" sz="1000" dirty="0"/>
          </a:p>
        </p:txBody>
      </p:sp>
      <p:sp>
        <p:nvSpPr>
          <p:cNvPr id="36" name="Shape 34"/>
          <p:cNvSpPr/>
          <p:nvPr/>
        </p:nvSpPr>
        <p:spPr>
          <a:xfrm>
            <a:off x="9223096" y="5029200"/>
            <a:ext cx="2331720" cy="0"/>
          </a:xfrm>
          <a:prstGeom prst="line">
            <a:avLst/>
          </a:prstGeom>
          <a:noFill/>
          <a:ln w="6350">
            <a:solidFill>
              <a:srgbClr val="E8E5DC"/>
            </a:solidFill>
            <a:prstDash val="solid"/>
          </a:ln>
        </p:spPr>
      </p:sp>
      <p:sp>
        <p:nvSpPr>
          <p:cNvPr id="37" name="Text 35"/>
          <p:cNvSpPr/>
          <p:nvPr/>
        </p:nvSpPr>
        <p:spPr>
          <a:xfrm>
            <a:off x="9223096" y="5074920"/>
            <a:ext cx="2331720" cy="274320"/>
          </a:xfrm>
          <a:prstGeom prst="rect">
            <a:avLst/>
          </a:prstGeom>
          <a:noFill/>
          <a:ln/>
        </p:spPr>
        <p:txBody>
          <a:bodyPr wrap="square" lIns="0" tIns="0" rIns="0" bIns="0" rtlCol="0" anchor="t"/>
          <a:lstStyle/>
          <a:p>
            <a:pPr indent="0" marL="0">
              <a:buNone/>
            </a:pPr>
            <a:r>
              <a:rPr lang="en-US" sz="800" spc="200" kern="0" dirty="0">
                <a:solidFill>
                  <a:srgbClr val="82807A"/>
                </a:solidFill>
                <a:latin typeface="JetBrains Mono" pitchFamily="34" charset="0"/>
                <a:ea typeface="JetBrains Mono" pitchFamily="34" charset="-122"/>
                <a:cs typeface="JetBrains Mono" pitchFamily="34" charset="-120"/>
              </a:rPr>
              <a:t>ex. entregar feature completa</a:t>
            </a:r>
            <a:endParaRPr lang="en-US" sz="800" dirty="0"/>
          </a:p>
        </p:txBody>
      </p:sp>
      <p:sp>
        <p:nvSpPr>
          <p:cNvPr id="38" name="Shape 36"/>
          <p:cNvSpPr/>
          <p:nvPr/>
        </p:nvSpPr>
        <p:spPr>
          <a:xfrm>
            <a:off x="636880" y="5577840"/>
            <a:ext cx="548640" cy="228600"/>
          </a:xfrm>
          <a:prstGeom prst="rect">
            <a:avLst/>
          </a:prstGeom>
          <a:solidFill>
            <a:srgbClr val="00A4EF"/>
          </a:solidFill>
          <a:ln/>
        </p:spPr>
      </p:sp>
      <p:sp>
        <p:nvSpPr>
          <p:cNvPr id="39" name="Shape 37"/>
          <p:cNvSpPr/>
          <p:nvPr/>
        </p:nvSpPr>
        <p:spPr>
          <a:xfrm>
            <a:off x="1231240" y="5577840"/>
            <a:ext cx="548640" cy="228600"/>
          </a:xfrm>
          <a:prstGeom prst="rect">
            <a:avLst/>
          </a:prstGeom>
          <a:solidFill>
            <a:srgbClr val="E8E5DC"/>
          </a:solidFill>
          <a:ln/>
        </p:spPr>
      </p:sp>
      <p:sp>
        <p:nvSpPr>
          <p:cNvPr id="40" name="Shape 38"/>
          <p:cNvSpPr/>
          <p:nvPr/>
        </p:nvSpPr>
        <p:spPr>
          <a:xfrm>
            <a:off x="1825600" y="5577840"/>
            <a:ext cx="548640" cy="228600"/>
          </a:xfrm>
          <a:prstGeom prst="rect">
            <a:avLst/>
          </a:prstGeom>
          <a:solidFill>
            <a:srgbClr val="E8E5DC"/>
          </a:solidFill>
          <a:ln/>
        </p:spPr>
      </p:sp>
      <p:sp>
        <p:nvSpPr>
          <p:cNvPr id="41" name="Shape 39"/>
          <p:cNvSpPr/>
          <p:nvPr/>
        </p:nvSpPr>
        <p:spPr>
          <a:xfrm>
            <a:off x="2419960" y="5577840"/>
            <a:ext cx="548640" cy="228600"/>
          </a:xfrm>
          <a:prstGeom prst="rect">
            <a:avLst/>
          </a:prstGeom>
          <a:solidFill>
            <a:srgbClr val="E8E5DC"/>
          </a:solidFill>
          <a:ln/>
        </p:spPr>
      </p:sp>
      <p:sp>
        <p:nvSpPr>
          <p:cNvPr id="42" name="Text 40"/>
          <p:cNvSpPr/>
          <p:nvPr/>
        </p:nvSpPr>
        <p:spPr>
          <a:xfrm>
            <a:off x="636880" y="5852160"/>
            <a:ext cx="2331720" cy="274320"/>
          </a:xfrm>
          <a:prstGeom prst="rect">
            <a:avLst/>
          </a:prstGeom>
          <a:noFill/>
          <a:ln/>
        </p:spPr>
        <p:txBody>
          <a:bodyPr wrap="square" lIns="0" tIns="0" rIns="0" bIns="0" rtlCol="0" anchor="t"/>
          <a:lstStyle/>
          <a:p>
            <a:pPr indent="0" marL="0">
              <a:buNone/>
            </a:pPr>
            <a:r>
              <a:rPr lang="en-US" sz="1100" b="1" dirty="0">
                <a:solidFill>
                  <a:srgbClr val="00A4EF"/>
                </a:solidFill>
                <a:latin typeface="JetBrains Mono" pitchFamily="34" charset="0"/>
                <a:ea typeface="JetBrains Mono" pitchFamily="34" charset="-122"/>
                <a:cs typeface="JetBrains Mono" pitchFamily="34" charset="-120"/>
              </a:rPr>
              <a:t>$</a:t>
            </a:r>
            <a:endParaRPr lang="en-US" sz="1100" dirty="0"/>
          </a:p>
        </p:txBody>
      </p:sp>
      <p:sp>
        <p:nvSpPr>
          <p:cNvPr id="43" name="Shape 41"/>
          <p:cNvSpPr/>
          <p:nvPr/>
        </p:nvSpPr>
        <p:spPr>
          <a:xfrm>
            <a:off x="3498952" y="5577840"/>
            <a:ext cx="548640" cy="228600"/>
          </a:xfrm>
          <a:prstGeom prst="rect">
            <a:avLst/>
          </a:prstGeom>
          <a:solidFill>
            <a:srgbClr val="FFB900"/>
          </a:solidFill>
          <a:ln/>
        </p:spPr>
      </p:sp>
      <p:sp>
        <p:nvSpPr>
          <p:cNvPr id="44" name="Shape 42"/>
          <p:cNvSpPr/>
          <p:nvPr/>
        </p:nvSpPr>
        <p:spPr>
          <a:xfrm>
            <a:off x="4093312" y="5577840"/>
            <a:ext cx="548640" cy="228600"/>
          </a:xfrm>
          <a:prstGeom prst="rect">
            <a:avLst/>
          </a:prstGeom>
          <a:solidFill>
            <a:srgbClr val="FFB900"/>
          </a:solidFill>
          <a:ln/>
        </p:spPr>
      </p:sp>
      <p:sp>
        <p:nvSpPr>
          <p:cNvPr id="45" name="Shape 43"/>
          <p:cNvSpPr/>
          <p:nvPr/>
        </p:nvSpPr>
        <p:spPr>
          <a:xfrm>
            <a:off x="4687672" y="5577840"/>
            <a:ext cx="548640" cy="228600"/>
          </a:xfrm>
          <a:prstGeom prst="rect">
            <a:avLst/>
          </a:prstGeom>
          <a:solidFill>
            <a:srgbClr val="E8E5DC"/>
          </a:solidFill>
          <a:ln/>
        </p:spPr>
      </p:sp>
      <p:sp>
        <p:nvSpPr>
          <p:cNvPr id="46" name="Shape 44"/>
          <p:cNvSpPr/>
          <p:nvPr/>
        </p:nvSpPr>
        <p:spPr>
          <a:xfrm>
            <a:off x="5282032" y="5577840"/>
            <a:ext cx="548640" cy="228600"/>
          </a:xfrm>
          <a:prstGeom prst="rect">
            <a:avLst/>
          </a:prstGeom>
          <a:solidFill>
            <a:srgbClr val="E8E5DC"/>
          </a:solidFill>
          <a:ln/>
        </p:spPr>
      </p:sp>
      <p:sp>
        <p:nvSpPr>
          <p:cNvPr id="47" name="Text 45"/>
          <p:cNvSpPr/>
          <p:nvPr/>
        </p:nvSpPr>
        <p:spPr>
          <a:xfrm>
            <a:off x="3498952" y="5852160"/>
            <a:ext cx="2331720" cy="274320"/>
          </a:xfrm>
          <a:prstGeom prst="rect">
            <a:avLst/>
          </a:prstGeom>
          <a:noFill/>
          <a:ln/>
        </p:spPr>
        <p:txBody>
          <a:bodyPr wrap="square" lIns="0" tIns="0" rIns="0" bIns="0" rtlCol="0" anchor="t"/>
          <a:lstStyle/>
          <a:p>
            <a:pPr indent="0" marL="0">
              <a:buNone/>
            </a:pPr>
            <a:r>
              <a:rPr lang="en-US" sz="1100" b="1" dirty="0">
                <a:solidFill>
                  <a:srgbClr val="FFB900"/>
                </a:solidFill>
                <a:latin typeface="JetBrains Mono" pitchFamily="34" charset="0"/>
                <a:ea typeface="JetBrains Mono" pitchFamily="34" charset="-122"/>
                <a:cs typeface="JetBrains Mono" pitchFamily="34" charset="-120"/>
              </a:rPr>
              <a:t>$$</a:t>
            </a:r>
            <a:endParaRPr lang="en-US" sz="1100" dirty="0"/>
          </a:p>
        </p:txBody>
      </p:sp>
      <p:sp>
        <p:nvSpPr>
          <p:cNvPr id="48" name="Shape 46"/>
          <p:cNvSpPr/>
          <p:nvPr/>
        </p:nvSpPr>
        <p:spPr>
          <a:xfrm>
            <a:off x="6361024" y="5577840"/>
            <a:ext cx="548640" cy="228600"/>
          </a:xfrm>
          <a:prstGeom prst="rect">
            <a:avLst/>
          </a:prstGeom>
          <a:solidFill>
            <a:srgbClr val="7FBA00"/>
          </a:solidFill>
          <a:ln/>
        </p:spPr>
      </p:sp>
      <p:sp>
        <p:nvSpPr>
          <p:cNvPr id="49" name="Shape 47"/>
          <p:cNvSpPr/>
          <p:nvPr/>
        </p:nvSpPr>
        <p:spPr>
          <a:xfrm>
            <a:off x="6955384" y="5577840"/>
            <a:ext cx="548640" cy="228600"/>
          </a:xfrm>
          <a:prstGeom prst="rect">
            <a:avLst/>
          </a:prstGeom>
          <a:solidFill>
            <a:srgbClr val="7FBA00"/>
          </a:solidFill>
          <a:ln/>
        </p:spPr>
      </p:sp>
      <p:sp>
        <p:nvSpPr>
          <p:cNvPr id="50" name="Shape 48"/>
          <p:cNvSpPr/>
          <p:nvPr/>
        </p:nvSpPr>
        <p:spPr>
          <a:xfrm>
            <a:off x="7549744" y="5577840"/>
            <a:ext cx="548640" cy="228600"/>
          </a:xfrm>
          <a:prstGeom prst="rect">
            <a:avLst/>
          </a:prstGeom>
          <a:solidFill>
            <a:srgbClr val="7FBA00"/>
          </a:solidFill>
          <a:ln/>
        </p:spPr>
      </p:sp>
      <p:sp>
        <p:nvSpPr>
          <p:cNvPr id="51" name="Shape 49"/>
          <p:cNvSpPr/>
          <p:nvPr/>
        </p:nvSpPr>
        <p:spPr>
          <a:xfrm>
            <a:off x="8144104" y="5577840"/>
            <a:ext cx="548640" cy="228600"/>
          </a:xfrm>
          <a:prstGeom prst="rect">
            <a:avLst/>
          </a:prstGeom>
          <a:solidFill>
            <a:srgbClr val="E8E5DC"/>
          </a:solidFill>
          <a:ln/>
        </p:spPr>
      </p:sp>
      <p:sp>
        <p:nvSpPr>
          <p:cNvPr id="52" name="Text 50"/>
          <p:cNvSpPr/>
          <p:nvPr/>
        </p:nvSpPr>
        <p:spPr>
          <a:xfrm>
            <a:off x="6361024" y="5852160"/>
            <a:ext cx="2331720" cy="274320"/>
          </a:xfrm>
          <a:prstGeom prst="rect">
            <a:avLst/>
          </a:prstGeom>
          <a:noFill/>
          <a:ln/>
        </p:spPr>
        <p:txBody>
          <a:bodyPr wrap="square" lIns="0" tIns="0" rIns="0" bIns="0" rtlCol="0" anchor="t"/>
          <a:lstStyle/>
          <a:p>
            <a:pPr indent="0" marL="0">
              <a:buNone/>
            </a:pPr>
            <a:r>
              <a:rPr lang="en-US" sz="1100" b="1" dirty="0">
                <a:solidFill>
                  <a:srgbClr val="7FBA00"/>
                </a:solidFill>
                <a:latin typeface="JetBrains Mono" pitchFamily="34" charset="0"/>
                <a:ea typeface="JetBrains Mono" pitchFamily="34" charset="-122"/>
                <a:cs typeface="JetBrains Mono" pitchFamily="34" charset="-120"/>
              </a:rPr>
              <a:t>$$$</a:t>
            </a:r>
            <a:endParaRPr lang="en-US" sz="1100" dirty="0"/>
          </a:p>
        </p:txBody>
      </p:sp>
      <p:sp>
        <p:nvSpPr>
          <p:cNvPr id="53" name="Shape 51"/>
          <p:cNvSpPr/>
          <p:nvPr/>
        </p:nvSpPr>
        <p:spPr>
          <a:xfrm>
            <a:off x="9223096" y="5577840"/>
            <a:ext cx="548640" cy="228600"/>
          </a:xfrm>
          <a:prstGeom prst="rect">
            <a:avLst/>
          </a:prstGeom>
          <a:solidFill>
            <a:srgbClr val="F25022"/>
          </a:solidFill>
          <a:ln/>
        </p:spPr>
      </p:sp>
      <p:sp>
        <p:nvSpPr>
          <p:cNvPr id="54" name="Shape 52"/>
          <p:cNvSpPr/>
          <p:nvPr/>
        </p:nvSpPr>
        <p:spPr>
          <a:xfrm>
            <a:off x="9817456" y="5577840"/>
            <a:ext cx="548640" cy="228600"/>
          </a:xfrm>
          <a:prstGeom prst="rect">
            <a:avLst/>
          </a:prstGeom>
          <a:solidFill>
            <a:srgbClr val="F25022"/>
          </a:solidFill>
          <a:ln/>
        </p:spPr>
      </p:sp>
      <p:sp>
        <p:nvSpPr>
          <p:cNvPr id="55" name="Shape 53"/>
          <p:cNvSpPr/>
          <p:nvPr/>
        </p:nvSpPr>
        <p:spPr>
          <a:xfrm>
            <a:off x="10411816" y="5577840"/>
            <a:ext cx="548640" cy="228600"/>
          </a:xfrm>
          <a:prstGeom prst="rect">
            <a:avLst/>
          </a:prstGeom>
          <a:solidFill>
            <a:srgbClr val="F25022"/>
          </a:solidFill>
          <a:ln/>
        </p:spPr>
      </p:sp>
      <p:sp>
        <p:nvSpPr>
          <p:cNvPr id="56" name="Shape 54"/>
          <p:cNvSpPr/>
          <p:nvPr/>
        </p:nvSpPr>
        <p:spPr>
          <a:xfrm>
            <a:off x="11006176" y="5577840"/>
            <a:ext cx="548640" cy="228600"/>
          </a:xfrm>
          <a:prstGeom prst="rect">
            <a:avLst/>
          </a:prstGeom>
          <a:solidFill>
            <a:srgbClr val="F25022"/>
          </a:solidFill>
          <a:ln/>
        </p:spPr>
      </p:sp>
      <p:sp>
        <p:nvSpPr>
          <p:cNvPr id="57" name="Text 55"/>
          <p:cNvSpPr/>
          <p:nvPr/>
        </p:nvSpPr>
        <p:spPr>
          <a:xfrm>
            <a:off x="9223096" y="5852160"/>
            <a:ext cx="2331720" cy="274320"/>
          </a:xfrm>
          <a:prstGeom prst="rect">
            <a:avLst/>
          </a:prstGeom>
          <a:noFill/>
          <a:ln/>
        </p:spPr>
        <p:txBody>
          <a:bodyPr wrap="square" lIns="0" tIns="0" rIns="0" bIns="0" rtlCol="0" anchor="t"/>
          <a:lstStyle/>
          <a:p>
            <a:pPr indent="0" marL="0">
              <a:buNone/>
            </a:pPr>
            <a:r>
              <a:rPr lang="en-US" sz="1100" b="1" dirty="0">
                <a:solidFill>
                  <a:srgbClr val="F25022"/>
                </a:solidFill>
                <a:latin typeface="JetBrains Mono" pitchFamily="34" charset="0"/>
                <a:ea typeface="JetBrains Mono" pitchFamily="34" charset="-122"/>
                <a:cs typeface="JetBrains Mono" pitchFamily="34" charset="-120"/>
              </a:rPr>
              <a:t>$$$$</a:t>
            </a:r>
            <a:endParaRPr lang="en-US" sz="1100" dirty="0"/>
          </a:p>
        </p:txBody>
      </p:sp>
      <p:sp>
        <p:nvSpPr>
          <p:cNvPr id="58" name="Shape 56"/>
          <p:cNvSpPr/>
          <p:nvPr/>
        </p:nvSpPr>
        <p:spPr>
          <a:xfrm>
            <a:off x="457200" y="6355080"/>
            <a:ext cx="11247120" cy="0"/>
          </a:xfrm>
          <a:prstGeom prst="line">
            <a:avLst/>
          </a:prstGeom>
          <a:noFill/>
          <a:ln w="6350">
            <a:solidFill>
              <a:srgbClr val="E8E5DC"/>
            </a:solidFill>
            <a:prstDash val="solid"/>
          </a:ln>
        </p:spPr>
      </p:sp>
      <p:sp>
        <p:nvSpPr>
          <p:cNvPr id="59" name="Text 57"/>
          <p:cNvSpPr/>
          <p:nvPr/>
        </p:nvSpPr>
        <p:spPr>
          <a:xfrm>
            <a:off x="457200" y="6446520"/>
            <a:ext cx="5486400" cy="274320"/>
          </a:xfrm>
          <a:prstGeom prst="rect">
            <a:avLst/>
          </a:prstGeom>
          <a:noFill/>
          <a:ln/>
        </p:spPr>
        <p:txBody>
          <a:bodyPr wrap="square" lIns="0" tIns="0" rIns="0" bIns="0" rtlCol="0" anchor="ctr"/>
          <a:lstStyle/>
          <a:p>
            <a:pPr indent="0" marL="0">
              <a:buNone/>
            </a:pPr>
            <a:r>
              <a:rPr lang="en-US" sz="1100" i="1" dirty="0">
                <a:solidFill>
                  <a:srgbClr val="5C5A52"/>
                </a:solidFill>
                <a:latin typeface="Inter" pitchFamily="34" charset="0"/>
                <a:ea typeface="Inter" pitchFamily="34" charset="-122"/>
                <a:cs typeface="Inter" pitchFamily="34" charset="-120"/>
              </a:rPr>
              <a:t>← onde vive 90% do AI em produção</a:t>
            </a:r>
            <a:endParaRPr lang="en-US" sz="1100" dirty="0"/>
          </a:p>
        </p:txBody>
      </p:sp>
      <p:sp>
        <p:nvSpPr>
          <p:cNvPr id="60" name="Text 58"/>
          <p:cNvSpPr/>
          <p:nvPr/>
        </p:nvSpPr>
        <p:spPr>
          <a:xfrm>
            <a:off x="5943600" y="6446520"/>
            <a:ext cx="5760720" cy="274320"/>
          </a:xfrm>
          <a:prstGeom prst="rect">
            <a:avLst/>
          </a:prstGeom>
          <a:noFill/>
          <a:ln/>
        </p:spPr>
        <p:txBody>
          <a:bodyPr wrap="square" lIns="0" tIns="0" rIns="0" bIns="0" rtlCol="0" anchor="ctr"/>
          <a:lstStyle/>
          <a:p>
            <a:pPr algn="r" indent="0" marL="0">
              <a:buNone/>
            </a:pPr>
            <a:r>
              <a:rPr lang="en-US" sz="1100" i="1" dirty="0">
                <a:solidFill>
                  <a:srgbClr val="5C5A52"/>
                </a:solidFill>
                <a:latin typeface="Inter" pitchFamily="34" charset="0"/>
                <a:ea typeface="Inter" pitchFamily="34" charset="-122"/>
                <a:cs typeface="Inter" pitchFamily="34" charset="-120"/>
              </a:rPr>
              <a:t>só quando nada mais resolve →</a:t>
            </a:r>
            <a:endParaRPr lang="en-US" sz="1100" dirty="0"/>
          </a:p>
        </p:txBody>
      </p:sp>
      <p:sp>
        <p:nvSpPr>
          <p:cNvPr id="61" name="Text 59"/>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TRÊS PADRÕES QUE PAGAM O PRÓPRIO CUSTO</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000" dirty="0">
                <a:solidFill>
                  <a:srgbClr val="1A1A19"/>
                </a:solidFill>
                <a:latin typeface="Inter" pitchFamily="34" charset="0"/>
                <a:ea typeface="Inter" pitchFamily="34" charset="-122"/>
                <a:cs typeface="Inter" pitchFamily="34" charset="-120"/>
              </a:rPr>
              <a:t>Se seu time constrói agentes, esses três não são opcionais.</a:t>
            </a:r>
            <a:endParaRPr lang="en-US" sz="3000" dirty="0"/>
          </a:p>
        </p:txBody>
      </p:sp>
      <p:sp>
        <p:nvSpPr>
          <p:cNvPr id="10" name="Shape 8"/>
          <p:cNvSpPr/>
          <p:nvPr/>
        </p:nvSpPr>
        <p:spPr>
          <a:xfrm>
            <a:off x="380848" y="3657600"/>
            <a:ext cx="3657600" cy="2560320"/>
          </a:xfrm>
          <a:prstGeom prst="rect">
            <a:avLst/>
          </a:prstGeom>
          <a:solidFill>
            <a:srgbClr val="F8F7F2"/>
          </a:solidFill>
          <a:ln w="6350">
            <a:solidFill>
              <a:srgbClr val="E8E5DC"/>
            </a:solidFill>
            <a:prstDash val="solid"/>
          </a:ln>
        </p:spPr>
      </p:sp>
      <p:sp>
        <p:nvSpPr>
          <p:cNvPr id="11" name="Text 9"/>
          <p:cNvSpPr/>
          <p:nvPr/>
        </p:nvSpPr>
        <p:spPr>
          <a:xfrm>
            <a:off x="655168" y="3886200"/>
            <a:ext cx="3108960" cy="274320"/>
          </a:xfrm>
          <a:prstGeom prst="rect">
            <a:avLst/>
          </a:prstGeom>
          <a:noFill/>
          <a:ln/>
        </p:spPr>
        <p:txBody>
          <a:bodyPr wrap="square" lIns="0" tIns="0" rIns="0" bIns="0" rtlCol="0" anchor="t"/>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01 · MCP</a:t>
            </a:r>
            <a:endParaRPr lang="en-US" sz="1000" dirty="0"/>
          </a:p>
        </p:txBody>
      </p:sp>
      <p:sp>
        <p:nvSpPr>
          <p:cNvPr id="12" name="Text 10"/>
          <p:cNvSpPr/>
          <p:nvPr/>
        </p:nvSpPr>
        <p:spPr>
          <a:xfrm>
            <a:off x="655168" y="4251960"/>
            <a:ext cx="3108960" cy="640080"/>
          </a:xfrm>
          <a:prstGeom prst="rect">
            <a:avLst/>
          </a:prstGeom>
          <a:noFill/>
          <a:ln/>
        </p:spPr>
        <p:txBody>
          <a:bodyPr wrap="square" lIns="0" tIns="0" rIns="0" bIns="0" rtlCol="0" anchor="t"/>
          <a:lstStyle/>
          <a:p>
            <a:pPr indent="0" marL="0">
              <a:buNone/>
            </a:pPr>
            <a:r>
              <a:rPr lang="en-US" sz="1700" b="1" dirty="0">
                <a:solidFill>
                  <a:srgbClr val="1A1A19"/>
                </a:solidFill>
                <a:latin typeface="Inter" pitchFamily="34" charset="0"/>
                <a:ea typeface="Inter" pitchFamily="34" charset="-122"/>
                <a:cs typeface="Inter" pitchFamily="34" charset="-120"/>
              </a:rPr>
              <a:t>Servidores MCP</a:t>
            </a:r>
            <a:endParaRPr lang="en-US" sz="1700" dirty="0"/>
          </a:p>
        </p:txBody>
      </p:sp>
      <p:sp>
        <p:nvSpPr>
          <p:cNvPr id="13" name="Text 11"/>
          <p:cNvSpPr/>
          <p:nvPr/>
        </p:nvSpPr>
        <p:spPr>
          <a:xfrm>
            <a:off x="655168" y="5029200"/>
            <a:ext cx="3108960" cy="114300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Conexão padronizada entre agentes e tools ou dados. Substitui integrações sob medida. Custo de contexto menor porque definições de tools são reusáveis e cacheáveis.</a:t>
            </a:r>
            <a:endParaRPr lang="en-US" sz="1100" dirty="0"/>
          </a:p>
        </p:txBody>
      </p:sp>
      <p:sp>
        <p:nvSpPr>
          <p:cNvPr id="14" name="Shape 12"/>
          <p:cNvSpPr/>
          <p:nvPr/>
        </p:nvSpPr>
        <p:spPr>
          <a:xfrm>
            <a:off x="4267048" y="3657600"/>
            <a:ext cx="3657600" cy="2560320"/>
          </a:xfrm>
          <a:prstGeom prst="rect">
            <a:avLst/>
          </a:prstGeom>
          <a:solidFill>
            <a:srgbClr val="F8F7F2"/>
          </a:solidFill>
          <a:ln w="6350">
            <a:solidFill>
              <a:srgbClr val="E8E5DC"/>
            </a:solidFill>
            <a:prstDash val="solid"/>
          </a:ln>
        </p:spPr>
      </p:sp>
      <p:sp>
        <p:nvSpPr>
          <p:cNvPr id="15" name="Text 13"/>
          <p:cNvSpPr/>
          <p:nvPr/>
        </p:nvSpPr>
        <p:spPr>
          <a:xfrm>
            <a:off x="4541368" y="3886200"/>
            <a:ext cx="3108960" cy="274320"/>
          </a:xfrm>
          <a:prstGeom prst="rect">
            <a:avLst/>
          </a:prstGeom>
          <a:noFill/>
          <a:ln/>
        </p:spPr>
        <p:txBody>
          <a:bodyPr wrap="square" lIns="0" tIns="0" rIns="0" bIns="0" rtlCol="0" anchor="t"/>
          <a:lstStyle/>
          <a:p>
            <a:pPr indent="0" marL="0">
              <a:buNone/>
            </a:pPr>
            <a:r>
              <a:rPr lang="en-US" sz="1000" b="1" spc="400" kern="0" dirty="0">
                <a:solidFill>
                  <a:srgbClr val="FFB900"/>
                </a:solidFill>
                <a:latin typeface="JetBrains Mono" pitchFamily="34" charset="0"/>
                <a:ea typeface="JetBrains Mono" pitchFamily="34" charset="-122"/>
                <a:cs typeface="JetBrains Mono" pitchFamily="34" charset="-120"/>
              </a:rPr>
              <a:t>02 · RAG</a:t>
            </a:r>
            <a:endParaRPr lang="en-US" sz="1000" dirty="0"/>
          </a:p>
        </p:txBody>
      </p:sp>
      <p:sp>
        <p:nvSpPr>
          <p:cNvPr id="16" name="Text 14"/>
          <p:cNvSpPr/>
          <p:nvPr/>
        </p:nvSpPr>
        <p:spPr>
          <a:xfrm>
            <a:off x="4541368" y="4251960"/>
            <a:ext cx="3108960" cy="640080"/>
          </a:xfrm>
          <a:prstGeom prst="rect">
            <a:avLst/>
          </a:prstGeom>
          <a:noFill/>
          <a:ln/>
        </p:spPr>
        <p:txBody>
          <a:bodyPr wrap="square" lIns="0" tIns="0" rIns="0" bIns="0" rtlCol="0" anchor="t"/>
          <a:lstStyle/>
          <a:p>
            <a:pPr indent="0" marL="0">
              <a:buNone/>
            </a:pPr>
            <a:r>
              <a:rPr lang="en-US" sz="1700" b="1" dirty="0">
                <a:solidFill>
                  <a:srgbClr val="1A1A19"/>
                </a:solidFill>
                <a:latin typeface="Inter" pitchFamily="34" charset="0"/>
                <a:ea typeface="Inter" pitchFamily="34" charset="-122"/>
                <a:cs typeface="Inter" pitchFamily="34" charset="-120"/>
              </a:rPr>
              <a:t>RAG sobre contexto bruto</a:t>
            </a:r>
            <a:endParaRPr lang="en-US" sz="1700" dirty="0"/>
          </a:p>
        </p:txBody>
      </p:sp>
      <p:sp>
        <p:nvSpPr>
          <p:cNvPr id="17" name="Text 15"/>
          <p:cNvSpPr/>
          <p:nvPr/>
        </p:nvSpPr>
        <p:spPr>
          <a:xfrm>
            <a:off x="4541368" y="5029200"/>
            <a:ext cx="3108960" cy="114300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Recupere só o que o turno atual precisa. Empurrar um codebase de 200K tokens em cada chamada é vazamento de budget. Um índice pequeno mais retrieval direcionado paga seu custo na primeira semana.</a:t>
            </a:r>
            <a:endParaRPr lang="en-US" sz="1100" dirty="0"/>
          </a:p>
        </p:txBody>
      </p:sp>
      <p:sp>
        <p:nvSpPr>
          <p:cNvPr id="18" name="Shape 16"/>
          <p:cNvSpPr/>
          <p:nvPr/>
        </p:nvSpPr>
        <p:spPr>
          <a:xfrm>
            <a:off x="8153248" y="3657600"/>
            <a:ext cx="3657600" cy="2560320"/>
          </a:xfrm>
          <a:prstGeom prst="rect">
            <a:avLst/>
          </a:prstGeom>
          <a:solidFill>
            <a:srgbClr val="F8F7F2"/>
          </a:solidFill>
          <a:ln w="6350">
            <a:solidFill>
              <a:srgbClr val="E8E5DC"/>
            </a:solidFill>
            <a:prstDash val="solid"/>
          </a:ln>
        </p:spPr>
      </p:sp>
      <p:sp>
        <p:nvSpPr>
          <p:cNvPr id="19" name="Text 17"/>
          <p:cNvSpPr/>
          <p:nvPr/>
        </p:nvSpPr>
        <p:spPr>
          <a:xfrm>
            <a:off x="8427568" y="3886200"/>
            <a:ext cx="3108960" cy="274320"/>
          </a:xfrm>
          <a:prstGeom prst="rect">
            <a:avLst/>
          </a:prstGeom>
          <a:noFill/>
          <a:ln/>
        </p:spPr>
        <p:txBody>
          <a:bodyPr wrap="square" lIns="0" tIns="0" rIns="0" bIns="0" rtlCol="0" anchor="t"/>
          <a:lstStyle/>
          <a:p>
            <a:pPr indent="0" marL="0">
              <a:buNone/>
            </a:pPr>
            <a:r>
              <a:rPr lang="en-US" sz="1000" b="1" spc="400" kern="0" dirty="0">
                <a:solidFill>
                  <a:srgbClr val="7FBA00"/>
                </a:solidFill>
                <a:latin typeface="JetBrains Mono" pitchFamily="34" charset="0"/>
                <a:ea typeface="JetBrains Mono" pitchFamily="34" charset="-122"/>
                <a:cs typeface="JetBrains Mono" pitchFamily="34" charset="-120"/>
              </a:rPr>
              <a:t>03 · SUBAGENTES</a:t>
            </a:r>
            <a:endParaRPr lang="en-US" sz="1000" dirty="0"/>
          </a:p>
        </p:txBody>
      </p:sp>
      <p:sp>
        <p:nvSpPr>
          <p:cNvPr id="20" name="Text 18"/>
          <p:cNvSpPr/>
          <p:nvPr/>
        </p:nvSpPr>
        <p:spPr>
          <a:xfrm>
            <a:off x="8427568" y="4251960"/>
            <a:ext cx="3108960" cy="640080"/>
          </a:xfrm>
          <a:prstGeom prst="rect">
            <a:avLst/>
          </a:prstGeom>
          <a:noFill/>
          <a:ln/>
        </p:spPr>
        <p:txBody>
          <a:bodyPr wrap="square" lIns="0" tIns="0" rIns="0" bIns="0" rtlCol="0" anchor="t"/>
          <a:lstStyle/>
          <a:p>
            <a:pPr indent="0" marL="0">
              <a:buNone/>
            </a:pPr>
            <a:r>
              <a:rPr lang="en-US" sz="1700" b="1" dirty="0">
                <a:solidFill>
                  <a:srgbClr val="1A1A19"/>
                </a:solidFill>
                <a:latin typeface="Inter" pitchFamily="34" charset="0"/>
                <a:ea typeface="Inter" pitchFamily="34" charset="-122"/>
                <a:cs typeface="Inter" pitchFamily="34" charset="-120"/>
              </a:rPr>
              <a:t>Subagentes em isolamento</a:t>
            </a:r>
            <a:endParaRPr lang="en-US" sz="1700" dirty="0"/>
          </a:p>
        </p:txBody>
      </p:sp>
      <p:sp>
        <p:nvSpPr>
          <p:cNvPr id="21" name="Text 19"/>
          <p:cNvSpPr/>
          <p:nvPr/>
        </p:nvSpPr>
        <p:spPr>
          <a:xfrm>
            <a:off x="8427568" y="5029200"/>
            <a:ext cx="3108960" cy="1143000"/>
          </a:xfrm>
          <a:prstGeom prst="rect">
            <a:avLst/>
          </a:prstGeom>
          <a:noFill/>
          <a:ln/>
        </p:spPr>
        <p:txBody>
          <a:bodyPr wrap="square" lIns="0" tIns="0" rIns="0" bIns="0" rtlCol="0" anchor="t"/>
          <a:lstStyle/>
          <a:p>
            <a:pPr indent="0" marL="0">
              <a:buNone/>
            </a:pPr>
            <a:r>
              <a:rPr lang="en-US" sz="1100" dirty="0">
                <a:solidFill>
                  <a:srgbClr val="5C5A52"/>
                </a:solidFill>
                <a:latin typeface="Inter" pitchFamily="34" charset="0"/>
                <a:ea typeface="Inter" pitchFamily="34" charset="-122"/>
                <a:cs typeface="Inter" pitchFamily="34" charset="-120"/>
              </a:rPr>
              <a:t>Um agente principal delega tarefa focada para um subagente com contexto limpo próprio, recebe de volta um sumário. Mantém o contexto principal pequeno e o budget da conversa limitado.</a:t>
            </a:r>
            <a:endParaRPr lang="en-US" sz="1100" dirty="0"/>
          </a:p>
        </p:txBody>
      </p:sp>
      <p:sp>
        <p:nvSpPr>
          <p:cNvPr id="22" name="Text 2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0F0E"/>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B8B6AE"/>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2286000"/>
            <a:ext cx="3657600" cy="457200"/>
          </a:xfrm>
          <a:prstGeom prst="rect">
            <a:avLst/>
          </a:prstGeom>
          <a:noFill/>
          <a:ln/>
        </p:spPr>
        <p:txBody>
          <a:bodyPr wrap="square" lIns="0" tIns="0" rIns="0" bIns="0" rtlCol="0" anchor="ctr"/>
          <a:lstStyle/>
          <a:p>
            <a:pPr indent="0" marL="0">
              <a:buNone/>
            </a:pPr>
            <a:r>
              <a:rPr lang="en-US" sz="1400" b="1" spc="600" kern="0" dirty="0">
                <a:solidFill>
                  <a:srgbClr val="F25022"/>
                </a:solidFill>
                <a:latin typeface="JetBrains Mono" pitchFamily="34" charset="0"/>
                <a:ea typeface="JetBrains Mono" pitchFamily="34" charset="-122"/>
                <a:cs typeface="JetBrains Mono" pitchFamily="34" charset="-120"/>
              </a:rPr>
              <a:t>PARTE</a:t>
            </a:r>
            <a:endParaRPr lang="en-US" sz="1400" dirty="0"/>
          </a:p>
        </p:txBody>
      </p:sp>
      <p:sp>
        <p:nvSpPr>
          <p:cNvPr id="9" name="Text 7"/>
          <p:cNvSpPr/>
          <p:nvPr/>
        </p:nvSpPr>
        <p:spPr>
          <a:xfrm>
            <a:off x="457200" y="2651760"/>
            <a:ext cx="4572000" cy="2743200"/>
          </a:xfrm>
          <a:prstGeom prst="rect">
            <a:avLst/>
          </a:prstGeom>
          <a:noFill/>
          <a:ln/>
        </p:spPr>
        <p:txBody>
          <a:bodyPr wrap="square" lIns="0" tIns="0" rIns="0" bIns="0" rtlCol="0" anchor="t"/>
          <a:lstStyle/>
          <a:p>
            <a:pPr indent="0" marL="0">
              <a:buNone/>
            </a:pPr>
            <a:r>
              <a:rPr lang="en-US" sz="14000" b="1" dirty="0">
                <a:solidFill>
                  <a:srgbClr val="F25022"/>
                </a:solidFill>
                <a:latin typeface="Inter" pitchFamily="34" charset="0"/>
                <a:ea typeface="Inter" pitchFamily="34" charset="-122"/>
                <a:cs typeface="Inter" pitchFamily="34" charset="-120"/>
              </a:rPr>
              <a:t>05</a:t>
            </a:r>
            <a:endParaRPr lang="en-US" sz="14000" dirty="0"/>
          </a:p>
        </p:txBody>
      </p:sp>
      <p:sp>
        <p:nvSpPr>
          <p:cNvPr id="10" name="Text 8"/>
          <p:cNvSpPr/>
          <p:nvPr/>
        </p:nvSpPr>
        <p:spPr>
          <a:xfrm>
            <a:off x="5486400" y="3200400"/>
            <a:ext cx="6400800" cy="914400"/>
          </a:xfrm>
          <a:prstGeom prst="rect">
            <a:avLst/>
          </a:prstGeom>
          <a:noFill/>
          <a:ln/>
        </p:spPr>
        <p:txBody>
          <a:bodyPr wrap="square" lIns="0" tIns="0" rIns="0" bIns="0" rtlCol="0" anchor="t"/>
          <a:lstStyle/>
          <a:p>
            <a:pPr indent="0" marL="0">
              <a:buNone/>
            </a:pPr>
            <a:r>
              <a:rPr lang="en-US" sz="5000" dirty="0">
                <a:solidFill>
                  <a:srgbClr val="F0F0EB"/>
                </a:solidFill>
                <a:latin typeface="Inter" pitchFamily="34" charset="0"/>
                <a:ea typeface="Inter" pitchFamily="34" charset="-122"/>
                <a:cs typeface="Inter" pitchFamily="34" charset="-120"/>
              </a:rPr>
              <a:t>Operação.</a:t>
            </a:r>
            <a:endParaRPr lang="en-US" sz="5000" dirty="0"/>
          </a:p>
        </p:txBody>
      </p:sp>
      <p:sp>
        <p:nvSpPr>
          <p:cNvPr id="11" name="Text 9"/>
          <p:cNvSpPr/>
          <p:nvPr/>
        </p:nvSpPr>
        <p:spPr>
          <a:xfrm>
            <a:off x="5486400" y="4297680"/>
            <a:ext cx="6400800" cy="1371600"/>
          </a:xfrm>
          <a:prstGeom prst="rect">
            <a:avLst/>
          </a:prstGeom>
          <a:noFill/>
          <a:ln/>
        </p:spPr>
        <p:txBody>
          <a:bodyPr wrap="square" lIns="0" tIns="0" rIns="0" bIns="0" rtlCol="0" anchor="t"/>
          <a:lstStyle/>
          <a:p>
            <a:pPr indent="0" marL="0">
              <a:buNone/>
            </a:pPr>
            <a:r>
              <a:rPr lang="en-US" sz="1500" dirty="0">
                <a:solidFill>
                  <a:srgbClr val="B8B6AE"/>
                </a:solidFill>
                <a:latin typeface="Inter" pitchFamily="34" charset="0"/>
                <a:ea typeface="Inter" pitchFamily="34" charset="-122"/>
                <a:cs typeface="Inter" pitchFamily="34" charset="-120"/>
              </a:rPr>
              <a:t>O stack de FinOps para cargas de AI e um roteiro de 90 dias que sobrevive ao contato com a realidade.</a:t>
            </a:r>
            <a:endParaRPr lang="en-US" sz="1500" dirty="0"/>
          </a:p>
        </p:txBody>
      </p:sp>
      <p:sp>
        <p:nvSpPr>
          <p:cNvPr id="12" name="Text 1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STACK DE FINOPS PARA AI</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000" dirty="0">
                <a:solidFill>
                  <a:srgbClr val="1A1A19"/>
                </a:solidFill>
                <a:latin typeface="Inter" pitchFamily="34" charset="0"/>
                <a:ea typeface="Inter" pitchFamily="34" charset="-122"/>
                <a:cs typeface="Inter" pitchFamily="34" charset="-120"/>
              </a:rPr>
              <a:t>Quatro camadas de governança que transformam uma fatura de uso em ativo gerenciado.</a:t>
            </a:r>
            <a:endParaRPr lang="en-US" sz="3000" dirty="0"/>
          </a:p>
        </p:txBody>
      </p:sp>
      <p:sp>
        <p:nvSpPr>
          <p:cNvPr id="10" name="Text 8"/>
          <p:cNvSpPr/>
          <p:nvPr/>
        </p:nvSpPr>
        <p:spPr>
          <a:xfrm>
            <a:off x="457200" y="3246120"/>
            <a:ext cx="731520" cy="685800"/>
          </a:xfrm>
          <a:prstGeom prst="rect">
            <a:avLst/>
          </a:prstGeom>
          <a:noFill/>
          <a:ln/>
        </p:spPr>
        <p:txBody>
          <a:bodyPr wrap="square" lIns="0" tIns="0" rIns="0" bIns="0" rtlCol="0" anchor="ctr"/>
          <a:lstStyle/>
          <a:p>
            <a:pPr indent="0" marL="0">
              <a:buNone/>
            </a:pPr>
            <a:r>
              <a:rPr lang="en-US" sz="2800" dirty="0">
                <a:solidFill>
                  <a:srgbClr val="F25022"/>
                </a:solidFill>
                <a:latin typeface="JetBrains Mono" pitchFamily="34" charset="0"/>
                <a:ea typeface="JetBrains Mono" pitchFamily="34" charset="-122"/>
                <a:cs typeface="JetBrains Mono" pitchFamily="34" charset="-120"/>
              </a:rPr>
              <a:t>04</a:t>
            </a:r>
            <a:endParaRPr lang="en-US" sz="2800" dirty="0"/>
          </a:p>
        </p:txBody>
      </p:sp>
      <p:sp>
        <p:nvSpPr>
          <p:cNvPr id="11" name="Shape 9"/>
          <p:cNvSpPr/>
          <p:nvPr/>
        </p:nvSpPr>
        <p:spPr>
          <a:xfrm>
            <a:off x="1371600" y="3200400"/>
            <a:ext cx="45720" cy="777240"/>
          </a:xfrm>
          <a:prstGeom prst="rect">
            <a:avLst/>
          </a:prstGeom>
          <a:solidFill>
            <a:srgbClr val="F25022"/>
          </a:solidFill>
          <a:ln/>
        </p:spPr>
      </p:sp>
      <p:sp>
        <p:nvSpPr>
          <p:cNvPr id="12" name="Text 10"/>
          <p:cNvSpPr/>
          <p:nvPr/>
        </p:nvSpPr>
        <p:spPr>
          <a:xfrm>
            <a:off x="1600200" y="3291840"/>
            <a:ext cx="3108960" cy="365760"/>
          </a:xfrm>
          <a:prstGeom prst="rect">
            <a:avLst/>
          </a:prstGeom>
          <a:noFill/>
          <a:ln/>
        </p:spPr>
        <p:txBody>
          <a:bodyPr wrap="square" lIns="0" tIns="0" rIns="0" bIns="0" rtlCol="0" anchor="t"/>
          <a:lstStyle/>
          <a:p>
            <a:pPr indent="0" marL="0">
              <a:buNone/>
            </a:pPr>
            <a:r>
              <a:rPr lang="en-US" sz="900" b="1" spc="200" kern="0" dirty="0">
                <a:solidFill>
                  <a:srgbClr val="F25022"/>
                </a:solidFill>
                <a:latin typeface="JetBrains Mono" pitchFamily="34" charset="0"/>
                <a:ea typeface="JetBrains Mono" pitchFamily="34" charset="-122"/>
                <a:cs typeface="JetBrains Mono" pitchFamily="34" charset="-120"/>
              </a:rPr>
              <a:t>Camada 4 · governança e limites</a:t>
            </a:r>
            <a:endParaRPr lang="en-US" sz="900" dirty="0"/>
          </a:p>
        </p:txBody>
      </p:sp>
      <p:sp>
        <p:nvSpPr>
          <p:cNvPr id="13" name="Text 11"/>
          <p:cNvSpPr/>
          <p:nvPr/>
        </p:nvSpPr>
        <p:spPr>
          <a:xfrm>
            <a:off x="1600200" y="3639312"/>
            <a:ext cx="3108960" cy="32004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Política</a:t>
            </a:r>
            <a:endParaRPr lang="en-US" sz="1400" dirty="0"/>
          </a:p>
        </p:txBody>
      </p:sp>
      <p:sp>
        <p:nvSpPr>
          <p:cNvPr id="14" name="Text 12"/>
          <p:cNvSpPr/>
          <p:nvPr/>
        </p:nvSpPr>
        <p:spPr>
          <a:xfrm>
            <a:off x="4937760" y="3291840"/>
            <a:ext cx="6858000" cy="59436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Allowlist de modelos por time, budget por usuário, política de uso adicional (permitido ou bloqueado), plano para janela promocional, escalonamento quando o budget estoura.</a:t>
            </a:r>
            <a:endParaRPr lang="en-US" sz="1100" dirty="0"/>
          </a:p>
        </p:txBody>
      </p:sp>
      <p:sp>
        <p:nvSpPr>
          <p:cNvPr id="15" name="Text 13"/>
          <p:cNvSpPr/>
          <p:nvPr/>
        </p:nvSpPr>
        <p:spPr>
          <a:xfrm>
            <a:off x="457200" y="4114800"/>
            <a:ext cx="731520" cy="685800"/>
          </a:xfrm>
          <a:prstGeom prst="rect">
            <a:avLst/>
          </a:prstGeom>
          <a:noFill/>
          <a:ln/>
        </p:spPr>
        <p:txBody>
          <a:bodyPr wrap="square" lIns="0" tIns="0" rIns="0" bIns="0" rtlCol="0" anchor="ctr"/>
          <a:lstStyle/>
          <a:p>
            <a:pPr indent="0" marL="0">
              <a:buNone/>
            </a:pPr>
            <a:r>
              <a:rPr lang="en-US" sz="2800" dirty="0">
                <a:solidFill>
                  <a:srgbClr val="FFB900"/>
                </a:solidFill>
                <a:latin typeface="JetBrains Mono" pitchFamily="34" charset="0"/>
                <a:ea typeface="JetBrains Mono" pitchFamily="34" charset="-122"/>
                <a:cs typeface="JetBrains Mono" pitchFamily="34" charset="-120"/>
              </a:rPr>
              <a:t>03</a:t>
            </a:r>
            <a:endParaRPr lang="en-US" sz="2800" dirty="0"/>
          </a:p>
        </p:txBody>
      </p:sp>
      <p:sp>
        <p:nvSpPr>
          <p:cNvPr id="16" name="Shape 14"/>
          <p:cNvSpPr/>
          <p:nvPr/>
        </p:nvSpPr>
        <p:spPr>
          <a:xfrm>
            <a:off x="1371600" y="4069080"/>
            <a:ext cx="45720" cy="777240"/>
          </a:xfrm>
          <a:prstGeom prst="rect">
            <a:avLst/>
          </a:prstGeom>
          <a:solidFill>
            <a:srgbClr val="FFB900"/>
          </a:solidFill>
          <a:ln/>
        </p:spPr>
      </p:sp>
      <p:sp>
        <p:nvSpPr>
          <p:cNvPr id="17" name="Text 15"/>
          <p:cNvSpPr/>
          <p:nvPr/>
        </p:nvSpPr>
        <p:spPr>
          <a:xfrm>
            <a:off x="1600200" y="4160520"/>
            <a:ext cx="3108960" cy="365760"/>
          </a:xfrm>
          <a:prstGeom prst="rect">
            <a:avLst/>
          </a:prstGeom>
          <a:noFill/>
          <a:ln/>
        </p:spPr>
        <p:txBody>
          <a:bodyPr wrap="square" lIns="0" tIns="0" rIns="0" bIns="0" rtlCol="0" anchor="t"/>
          <a:lstStyle/>
          <a:p>
            <a:pPr indent="0" marL="0">
              <a:buNone/>
            </a:pPr>
            <a:r>
              <a:rPr lang="en-US" sz="900" b="1" spc="200" kern="0" dirty="0">
                <a:solidFill>
                  <a:srgbClr val="FFB900"/>
                </a:solidFill>
                <a:latin typeface="JetBrains Mono" pitchFamily="34" charset="0"/>
                <a:ea typeface="JetBrains Mono" pitchFamily="34" charset="-122"/>
                <a:cs typeface="JetBrains Mono" pitchFamily="34" charset="-120"/>
              </a:rPr>
              <a:t>Camada 3 · dashboards e alertas</a:t>
            </a:r>
            <a:endParaRPr lang="en-US" sz="900" dirty="0"/>
          </a:p>
        </p:txBody>
      </p:sp>
      <p:sp>
        <p:nvSpPr>
          <p:cNvPr id="18" name="Text 16"/>
          <p:cNvSpPr/>
          <p:nvPr/>
        </p:nvSpPr>
        <p:spPr>
          <a:xfrm>
            <a:off x="1600200" y="4507992"/>
            <a:ext cx="3108960" cy="32004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Visibilidade</a:t>
            </a:r>
            <a:endParaRPr lang="en-US" sz="1400" dirty="0"/>
          </a:p>
        </p:txBody>
      </p:sp>
      <p:sp>
        <p:nvSpPr>
          <p:cNvPr id="19" name="Text 17"/>
          <p:cNvSpPr/>
          <p:nvPr/>
        </p:nvSpPr>
        <p:spPr>
          <a:xfrm>
            <a:off x="4937760" y="4160520"/>
            <a:ext cx="6858000" cy="59436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Dashboard de billing overview, relatório semanal de uso, breakdown de mix de modelos, top users e top sessions, alertas de anomalia em consumo de credits.</a:t>
            </a:r>
            <a:endParaRPr lang="en-US" sz="1100" dirty="0"/>
          </a:p>
        </p:txBody>
      </p:sp>
      <p:sp>
        <p:nvSpPr>
          <p:cNvPr id="20" name="Text 18"/>
          <p:cNvSpPr/>
          <p:nvPr/>
        </p:nvSpPr>
        <p:spPr>
          <a:xfrm>
            <a:off x="457200" y="4983480"/>
            <a:ext cx="731520" cy="685800"/>
          </a:xfrm>
          <a:prstGeom prst="rect">
            <a:avLst/>
          </a:prstGeom>
          <a:noFill/>
          <a:ln/>
        </p:spPr>
        <p:txBody>
          <a:bodyPr wrap="square" lIns="0" tIns="0" rIns="0" bIns="0" rtlCol="0" anchor="ctr"/>
          <a:lstStyle/>
          <a:p>
            <a:pPr indent="0" marL="0">
              <a:buNone/>
            </a:pPr>
            <a:r>
              <a:rPr lang="en-US" sz="2800" dirty="0">
                <a:solidFill>
                  <a:srgbClr val="7FBA00"/>
                </a:solidFill>
                <a:latin typeface="JetBrains Mono" pitchFamily="34" charset="0"/>
                <a:ea typeface="JetBrains Mono" pitchFamily="34" charset="-122"/>
                <a:cs typeface="JetBrains Mono" pitchFamily="34" charset="-120"/>
              </a:rPr>
              <a:t>02</a:t>
            </a:r>
            <a:endParaRPr lang="en-US" sz="2800" dirty="0"/>
          </a:p>
        </p:txBody>
      </p:sp>
      <p:sp>
        <p:nvSpPr>
          <p:cNvPr id="21" name="Shape 19"/>
          <p:cNvSpPr/>
          <p:nvPr/>
        </p:nvSpPr>
        <p:spPr>
          <a:xfrm>
            <a:off x="1371600" y="4937760"/>
            <a:ext cx="45720" cy="777240"/>
          </a:xfrm>
          <a:prstGeom prst="rect">
            <a:avLst/>
          </a:prstGeom>
          <a:solidFill>
            <a:srgbClr val="7FBA00"/>
          </a:solidFill>
          <a:ln/>
        </p:spPr>
      </p:sp>
      <p:sp>
        <p:nvSpPr>
          <p:cNvPr id="22" name="Text 20"/>
          <p:cNvSpPr/>
          <p:nvPr/>
        </p:nvSpPr>
        <p:spPr>
          <a:xfrm>
            <a:off x="1600200" y="5029200"/>
            <a:ext cx="3108960" cy="365760"/>
          </a:xfrm>
          <a:prstGeom prst="rect">
            <a:avLst/>
          </a:prstGeom>
          <a:noFill/>
          <a:ln/>
        </p:spPr>
        <p:txBody>
          <a:bodyPr wrap="square" lIns="0" tIns="0" rIns="0" bIns="0" rtlCol="0" anchor="t"/>
          <a:lstStyle/>
          <a:p>
            <a:pPr indent="0" marL="0">
              <a:buNone/>
            </a:pPr>
            <a:r>
              <a:rPr lang="en-US" sz="900" b="1" spc="200" kern="0" dirty="0">
                <a:solidFill>
                  <a:srgbClr val="7FBA00"/>
                </a:solidFill>
                <a:latin typeface="JetBrains Mono" pitchFamily="34" charset="0"/>
                <a:ea typeface="JetBrains Mono" pitchFamily="34" charset="-122"/>
                <a:cs typeface="JetBrains Mono" pitchFamily="34" charset="-120"/>
              </a:rPr>
              <a:t>Camada 2 · práticas de engenharia</a:t>
            </a:r>
            <a:endParaRPr lang="en-US" sz="900" dirty="0"/>
          </a:p>
        </p:txBody>
      </p:sp>
      <p:sp>
        <p:nvSpPr>
          <p:cNvPr id="23" name="Text 21"/>
          <p:cNvSpPr/>
          <p:nvPr/>
        </p:nvSpPr>
        <p:spPr>
          <a:xfrm>
            <a:off x="1600200" y="5376672"/>
            <a:ext cx="3108960" cy="32004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Disciplina</a:t>
            </a:r>
            <a:endParaRPr lang="en-US" sz="1400" dirty="0"/>
          </a:p>
        </p:txBody>
      </p:sp>
      <p:sp>
        <p:nvSpPr>
          <p:cNvPr id="24" name="Text 22"/>
          <p:cNvSpPr/>
          <p:nvPr/>
        </p:nvSpPr>
        <p:spPr>
          <a:xfrm>
            <a:off x="4937760" y="5029200"/>
            <a:ext cx="6858000" cy="59436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Prompt caching habilitado em prompts longos, RAG sobre contexto bruto, subagentes para tarefas focadas, roteamento de modelo por classe de tarefa, compaction periódica em sessões longas.</a:t>
            </a:r>
            <a:endParaRPr lang="en-US" sz="1100" dirty="0"/>
          </a:p>
        </p:txBody>
      </p:sp>
      <p:sp>
        <p:nvSpPr>
          <p:cNvPr id="25" name="Text 23"/>
          <p:cNvSpPr/>
          <p:nvPr/>
        </p:nvSpPr>
        <p:spPr>
          <a:xfrm>
            <a:off x="457200" y="5852160"/>
            <a:ext cx="731520" cy="685800"/>
          </a:xfrm>
          <a:prstGeom prst="rect">
            <a:avLst/>
          </a:prstGeom>
          <a:noFill/>
          <a:ln/>
        </p:spPr>
        <p:txBody>
          <a:bodyPr wrap="square" lIns="0" tIns="0" rIns="0" bIns="0" rtlCol="0" anchor="ctr"/>
          <a:lstStyle/>
          <a:p>
            <a:pPr indent="0" marL="0">
              <a:buNone/>
            </a:pPr>
            <a:r>
              <a:rPr lang="en-US" sz="2800" dirty="0">
                <a:solidFill>
                  <a:srgbClr val="00A4EF"/>
                </a:solidFill>
                <a:latin typeface="JetBrains Mono" pitchFamily="34" charset="0"/>
                <a:ea typeface="JetBrains Mono" pitchFamily="34" charset="-122"/>
                <a:cs typeface="JetBrains Mono" pitchFamily="34" charset="-120"/>
              </a:rPr>
              <a:t>01</a:t>
            </a:r>
            <a:endParaRPr lang="en-US" sz="2800" dirty="0"/>
          </a:p>
        </p:txBody>
      </p:sp>
      <p:sp>
        <p:nvSpPr>
          <p:cNvPr id="26" name="Shape 24"/>
          <p:cNvSpPr/>
          <p:nvPr/>
        </p:nvSpPr>
        <p:spPr>
          <a:xfrm>
            <a:off x="1371600" y="5806440"/>
            <a:ext cx="45720" cy="777240"/>
          </a:xfrm>
          <a:prstGeom prst="rect">
            <a:avLst/>
          </a:prstGeom>
          <a:solidFill>
            <a:srgbClr val="00A4EF"/>
          </a:solidFill>
          <a:ln/>
        </p:spPr>
      </p:sp>
      <p:sp>
        <p:nvSpPr>
          <p:cNvPr id="27" name="Text 25"/>
          <p:cNvSpPr/>
          <p:nvPr/>
        </p:nvSpPr>
        <p:spPr>
          <a:xfrm>
            <a:off x="1600200" y="5897880"/>
            <a:ext cx="3108960" cy="365760"/>
          </a:xfrm>
          <a:prstGeom prst="rect">
            <a:avLst/>
          </a:prstGeom>
          <a:noFill/>
          <a:ln/>
        </p:spPr>
        <p:txBody>
          <a:bodyPr wrap="square" lIns="0" tIns="0" rIns="0" bIns="0" rtlCol="0" anchor="t"/>
          <a:lstStyle/>
          <a:p>
            <a:pPr indent="0" marL="0">
              <a:buNone/>
            </a:pPr>
            <a:r>
              <a:rPr lang="en-US" sz="900" b="1" spc="200" kern="0" dirty="0">
                <a:solidFill>
                  <a:srgbClr val="00A4EF"/>
                </a:solidFill>
                <a:latin typeface="JetBrains Mono" pitchFamily="34" charset="0"/>
                <a:ea typeface="JetBrains Mono" pitchFamily="34" charset="-122"/>
                <a:cs typeface="JetBrains Mono" pitchFamily="34" charset="-120"/>
              </a:rPr>
              <a:t>Camada 1 · plataforma e identidade</a:t>
            </a:r>
            <a:endParaRPr lang="en-US" sz="900" dirty="0"/>
          </a:p>
        </p:txBody>
      </p:sp>
      <p:sp>
        <p:nvSpPr>
          <p:cNvPr id="28" name="Text 26"/>
          <p:cNvSpPr/>
          <p:nvPr/>
        </p:nvSpPr>
        <p:spPr>
          <a:xfrm>
            <a:off x="1600200" y="6245352"/>
            <a:ext cx="3108960" cy="320040"/>
          </a:xfrm>
          <a:prstGeom prst="rect">
            <a:avLst/>
          </a:prstGeom>
          <a:noFill/>
          <a:ln/>
        </p:spPr>
        <p:txBody>
          <a:bodyPr wrap="square" lIns="0" tIns="0" rIns="0" bIns="0" rtlCol="0" anchor="t"/>
          <a:lstStyle/>
          <a:p>
            <a:pPr indent="0" marL="0">
              <a:buNone/>
            </a:pPr>
            <a:r>
              <a:rPr lang="en-US" sz="1400" b="1" dirty="0">
                <a:solidFill>
                  <a:srgbClr val="1A1A19"/>
                </a:solidFill>
                <a:latin typeface="Inter" pitchFamily="34" charset="0"/>
                <a:ea typeface="Inter" pitchFamily="34" charset="-122"/>
                <a:cs typeface="Inter" pitchFamily="34" charset="-120"/>
              </a:rPr>
              <a:t>Fundação</a:t>
            </a:r>
            <a:endParaRPr lang="en-US" sz="1400" dirty="0"/>
          </a:p>
        </p:txBody>
      </p:sp>
      <p:sp>
        <p:nvSpPr>
          <p:cNvPr id="29" name="Text 27"/>
          <p:cNvSpPr/>
          <p:nvPr/>
        </p:nvSpPr>
        <p:spPr>
          <a:xfrm>
            <a:off x="4937760" y="5897880"/>
            <a:ext cx="6858000" cy="594360"/>
          </a:xfrm>
          <a:prstGeom prst="rect">
            <a:avLst/>
          </a:prstGeom>
          <a:noFill/>
          <a:ln/>
        </p:spPr>
        <p:txBody>
          <a:bodyPr wrap="square" lIns="0" tIns="0" rIns="0" bIns="0" rtlCol="0" anchor="ctr"/>
          <a:lstStyle/>
          <a:p>
            <a:pPr indent="0" marL="0">
              <a:buNone/>
            </a:pPr>
            <a:r>
              <a:rPr lang="en-US" sz="1100" dirty="0">
                <a:solidFill>
                  <a:srgbClr val="5C5A52"/>
                </a:solidFill>
                <a:latin typeface="Inter" pitchFamily="34" charset="0"/>
                <a:ea typeface="Inter" pitchFamily="34" charset="-122"/>
                <a:cs typeface="Inter" pitchFamily="34" charset="-120"/>
              </a:rPr>
              <a:t>GitHub Copilot Enterprise com estrutura de organização adequada, SSO e identidade, allowlist por repositório, conexão com Azure AI Foundry onde se aplica.</a:t>
            </a:r>
            <a:endParaRPr lang="en-US" sz="1100" dirty="0"/>
          </a:p>
        </p:txBody>
      </p:sp>
      <p:sp>
        <p:nvSpPr>
          <p:cNvPr id="30" name="Text 28"/>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5C5A52"/>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91440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ROTEIRO DE ADOÇÃO EM 90 DIAS</a:t>
            </a:r>
            <a:endParaRPr lang="en-US" sz="1000" dirty="0"/>
          </a:p>
        </p:txBody>
      </p:sp>
      <p:sp>
        <p:nvSpPr>
          <p:cNvPr id="9" name="Text 7"/>
          <p:cNvSpPr/>
          <p:nvPr/>
        </p:nvSpPr>
        <p:spPr>
          <a:xfrm>
            <a:off x="457200" y="1325880"/>
            <a:ext cx="11247120" cy="1371600"/>
          </a:xfrm>
          <a:prstGeom prst="rect">
            <a:avLst/>
          </a:prstGeom>
          <a:noFill/>
          <a:ln/>
        </p:spPr>
        <p:txBody>
          <a:bodyPr wrap="square" lIns="0" tIns="0" rIns="0" bIns="0" rtlCol="0" anchor="t"/>
          <a:lstStyle/>
          <a:p>
            <a:pPr indent="0" marL="0">
              <a:buNone/>
            </a:pPr>
            <a:r>
              <a:rPr lang="en-US" sz="3600" dirty="0">
                <a:solidFill>
                  <a:srgbClr val="1A1A19"/>
                </a:solidFill>
                <a:latin typeface="Inter" pitchFamily="34" charset="0"/>
                <a:ea typeface="Inter" pitchFamily="34" charset="-122"/>
                <a:cs typeface="Inter" pitchFamily="34" charset="-120"/>
              </a:rPr>
              <a:t>Três fases de 30 dias. Comece antes de 1 de junho.</a:t>
            </a:r>
            <a:endParaRPr lang="en-US" sz="3600" dirty="0"/>
          </a:p>
        </p:txBody>
      </p:sp>
      <p:sp>
        <p:nvSpPr>
          <p:cNvPr id="10" name="Shape 8"/>
          <p:cNvSpPr/>
          <p:nvPr/>
        </p:nvSpPr>
        <p:spPr>
          <a:xfrm>
            <a:off x="457200" y="3383280"/>
            <a:ext cx="45720" cy="960120"/>
          </a:xfrm>
          <a:prstGeom prst="rect">
            <a:avLst/>
          </a:prstGeom>
          <a:solidFill>
            <a:srgbClr val="F25022"/>
          </a:solidFill>
          <a:ln/>
        </p:spPr>
      </p:sp>
      <p:sp>
        <p:nvSpPr>
          <p:cNvPr id="11" name="Text 9"/>
          <p:cNvSpPr/>
          <p:nvPr/>
        </p:nvSpPr>
        <p:spPr>
          <a:xfrm>
            <a:off x="685800" y="3520440"/>
            <a:ext cx="2286000" cy="731520"/>
          </a:xfrm>
          <a:prstGeom prst="rect">
            <a:avLst/>
          </a:prstGeom>
          <a:noFill/>
          <a:ln/>
        </p:spPr>
        <p:txBody>
          <a:bodyPr wrap="square" lIns="0" tIns="0" rIns="0" bIns="0" rtlCol="0" anchor="t"/>
          <a:lstStyle/>
          <a:p>
            <a:pPr indent="0" marL="0">
              <a:buNone/>
            </a:pPr>
            <a:r>
              <a:rPr lang="en-US" sz="1000" b="1" spc="300" kern="0" dirty="0">
                <a:solidFill>
                  <a:srgbClr val="F25022"/>
                </a:solidFill>
                <a:latin typeface="JetBrains Mono" pitchFamily="34" charset="0"/>
                <a:ea typeface="JetBrains Mono" pitchFamily="34" charset="-122"/>
                <a:cs typeface="JetBrains Mono" pitchFamily="34" charset="-120"/>
              </a:rPr>
              <a:t>Dias 1 a 30, baseline</a:t>
            </a:r>
            <a:endParaRPr lang="en-US" sz="1000" dirty="0"/>
          </a:p>
        </p:txBody>
      </p:sp>
      <p:sp>
        <p:nvSpPr>
          <p:cNvPr id="12" name="Text 10"/>
          <p:cNvSpPr/>
          <p:nvPr/>
        </p:nvSpPr>
        <p:spPr>
          <a:xfrm>
            <a:off x="3108960" y="3566160"/>
            <a:ext cx="7132320" cy="685800"/>
          </a:xfrm>
          <a:prstGeom prst="rect">
            <a:avLst/>
          </a:prstGeom>
          <a:noFill/>
          <a:ln/>
        </p:spPr>
        <p:txBody>
          <a:bodyPr wrap="square" lIns="0" tIns="0" rIns="0" bIns="0" rtlCol="0" anchor="t"/>
          <a:lstStyle/>
          <a:p>
            <a:pPr indent="0" marL="0">
              <a:buNone/>
            </a:pPr>
            <a:r>
              <a:rPr lang="en-US" sz="1300" dirty="0">
                <a:solidFill>
                  <a:srgbClr val="1A1A19"/>
                </a:solidFill>
                <a:latin typeface="Inter" pitchFamily="34" charset="0"/>
                <a:ea typeface="Inter" pitchFamily="34" charset="-122"/>
                <a:cs typeface="Inter" pitchFamily="34" charset="-120"/>
              </a:rPr>
              <a:t>Rode a projeção de uso. Estabeleça o allowlist de modelos. Treine o time sobre o que muda. Escolha o squad piloto. Defina o budget por usuário.</a:t>
            </a:r>
            <a:endParaRPr lang="en-US" sz="1300" dirty="0"/>
          </a:p>
        </p:txBody>
      </p:sp>
      <p:sp>
        <p:nvSpPr>
          <p:cNvPr id="13" name="Text 11"/>
          <p:cNvSpPr/>
          <p:nvPr/>
        </p:nvSpPr>
        <p:spPr>
          <a:xfrm>
            <a:off x="10424160" y="3566160"/>
            <a:ext cx="1371600" cy="365760"/>
          </a:xfrm>
          <a:prstGeom prst="rect">
            <a:avLst/>
          </a:prstGeom>
          <a:noFill/>
          <a:ln/>
        </p:spPr>
        <p:txBody>
          <a:bodyPr wrap="square" lIns="0" tIns="0" rIns="0" bIns="0" rtlCol="0" anchor="t"/>
          <a:lstStyle/>
          <a:p>
            <a:pPr algn="r" indent="0" marL="0">
              <a:buNone/>
            </a:pPr>
            <a:r>
              <a:rPr lang="en-US" sz="1000" dirty="0">
                <a:solidFill>
                  <a:srgbClr val="82807A"/>
                </a:solidFill>
                <a:latin typeface="JetBrains Mono" pitchFamily="34" charset="0"/>
                <a:ea typeface="JetBrains Mono" pitchFamily="34" charset="-122"/>
                <a:cs typeface="JetBrains Mono" pitchFamily="34" charset="-120"/>
              </a:rPr>
              <a:t>30 dias</a:t>
            </a:r>
            <a:endParaRPr lang="en-US" sz="1000" dirty="0"/>
          </a:p>
        </p:txBody>
      </p:sp>
      <p:sp>
        <p:nvSpPr>
          <p:cNvPr id="14" name="Shape 12"/>
          <p:cNvSpPr/>
          <p:nvPr/>
        </p:nvSpPr>
        <p:spPr>
          <a:xfrm>
            <a:off x="457200" y="4434840"/>
            <a:ext cx="45720" cy="960120"/>
          </a:xfrm>
          <a:prstGeom prst="rect">
            <a:avLst/>
          </a:prstGeom>
          <a:solidFill>
            <a:srgbClr val="FFB900"/>
          </a:solidFill>
          <a:ln/>
        </p:spPr>
      </p:sp>
      <p:sp>
        <p:nvSpPr>
          <p:cNvPr id="15" name="Text 13"/>
          <p:cNvSpPr/>
          <p:nvPr/>
        </p:nvSpPr>
        <p:spPr>
          <a:xfrm>
            <a:off x="685800" y="4572000"/>
            <a:ext cx="2286000" cy="731520"/>
          </a:xfrm>
          <a:prstGeom prst="rect">
            <a:avLst/>
          </a:prstGeom>
          <a:noFill/>
          <a:ln/>
        </p:spPr>
        <p:txBody>
          <a:bodyPr wrap="square" lIns="0" tIns="0" rIns="0" bIns="0" rtlCol="0" anchor="t"/>
          <a:lstStyle/>
          <a:p>
            <a:pPr indent="0" marL="0">
              <a:buNone/>
            </a:pPr>
            <a:r>
              <a:rPr lang="en-US" sz="1000" b="1" spc="300" kern="0" dirty="0">
                <a:solidFill>
                  <a:srgbClr val="FFB900"/>
                </a:solidFill>
                <a:latin typeface="JetBrains Mono" pitchFamily="34" charset="0"/>
                <a:ea typeface="JetBrains Mono" pitchFamily="34" charset="-122"/>
                <a:cs typeface="JetBrains Mono" pitchFamily="34" charset="-120"/>
              </a:rPr>
              <a:t>Dias 31 a 60, instrumente</a:t>
            </a:r>
            <a:endParaRPr lang="en-US" sz="1000" dirty="0"/>
          </a:p>
        </p:txBody>
      </p:sp>
      <p:sp>
        <p:nvSpPr>
          <p:cNvPr id="16" name="Text 14"/>
          <p:cNvSpPr/>
          <p:nvPr/>
        </p:nvSpPr>
        <p:spPr>
          <a:xfrm>
            <a:off x="3108960" y="4617720"/>
            <a:ext cx="7132320" cy="685800"/>
          </a:xfrm>
          <a:prstGeom prst="rect">
            <a:avLst/>
          </a:prstGeom>
          <a:noFill/>
          <a:ln/>
        </p:spPr>
        <p:txBody>
          <a:bodyPr wrap="square" lIns="0" tIns="0" rIns="0" bIns="0" rtlCol="0" anchor="t"/>
          <a:lstStyle/>
          <a:p>
            <a:pPr indent="0" marL="0">
              <a:buNone/>
            </a:pPr>
            <a:r>
              <a:rPr lang="en-US" sz="1300" dirty="0">
                <a:solidFill>
                  <a:srgbClr val="1A1A19"/>
                </a:solidFill>
                <a:latin typeface="Inter" pitchFamily="34" charset="0"/>
                <a:ea typeface="Inter" pitchFamily="34" charset="-122"/>
                <a:cs typeface="Inter" pitchFamily="34" charset="-120"/>
              </a:rPr>
              <a:t>Deploye prompt caching nos prompts longos. Suba o dashboard de FinOps. Rode revisão semanal de mix de modelos. Refine o budget com base em dados reais de uso.</a:t>
            </a:r>
            <a:endParaRPr lang="en-US" sz="1300" dirty="0"/>
          </a:p>
        </p:txBody>
      </p:sp>
      <p:sp>
        <p:nvSpPr>
          <p:cNvPr id="17" name="Text 15"/>
          <p:cNvSpPr/>
          <p:nvPr/>
        </p:nvSpPr>
        <p:spPr>
          <a:xfrm>
            <a:off x="10424160" y="4617720"/>
            <a:ext cx="1371600" cy="365760"/>
          </a:xfrm>
          <a:prstGeom prst="rect">
            <a:avLst/>
          </a:prstGeom>
          <a:noFill/>
          <a:ln/>
        </p:spPr>
        <p:txBody>
          <a:bodyPr wrap="square" lIns="0" tIns="0" rIns="0" bIns="0" rtlCol="0" anchor="t"/>
          <a:lstStyle/>
          <a:p>
            <a:pPr algn="r" indent="0" marL="0">
              <a:buNone/>
            </a:pPr>
            <a:r>
              <a:rPr lang="en-US" sz="1000" dirty="0">
                <a:solidFill>
                  <a:srgbClr val="82807A"/>
                </a:solidFill>
                <a:latin typeface="JetBrains Mono" pitchFamily="34" charset="0"/>
                <a:ea typeface="JetBrains Mono" pitchFamily="34" charset="-122"/>
                <a:cs typeface="JetBrains Mono" pitchFamily="34" charset="-120"/>
              </a:rPr>
              <a:t>30 dias</a:t>
            </a:r>
            <a:endParaRPr lang="en-US" sz="1000" dirty="0"/>
          </a:p>
        </p:txBody>
      </p:sp>
      <p:sp>
        <p:nvSpPr>
          <p:cNvPr id="18" name="Shape 16"/>
          <p:cNvSpPr/>
          <p:nvPr/>
        </p:nvSpPr>
        <p:spPr>
          <a:xfrm>
            <a:off x="457200" y="5486400"/>
            <a:ext cx="45720" cy="960120"/>
          </a:xfrm>
          <a:prstGeom prst="rect">
            <a:avLst/>
          </a:prstGeom>
          <a:solidFill>
            <a:srgbClr val="7FBA00"/>
          </a:solidFill>
          <a:ln/>
        </p:spPr>
      </p:sp>
      <p:sp>
        <p:nvSpPr>
          <p:cNvPr id="19" name="Text 17"/>
          <p:cNvSpPr/>
          <p:nvPr/>
        </p:nvSpPr>
        <p:spPr>
          <a:xfrm>
            <a:off x="685800" y="5623560"/>
            <a:ext cx="2286000" cy="731520"/>
          </a:xfrm>
          <a:prstGeom prst="rect">
            <a:avLst/>
          </a:prstGeom>
          <a:noFill/>
          <a:ln/>
        </p:spPr>
        <p:txBody>
          <a:bodyPr wrap="square" lIns="0" tIns="0" rIns="0" bIns="0" rtlCol="0" anchor="t"/>
          <a:lstStyle/>
          <a:p>
            <a:pPr indent="0" marL="0">
              <a:buNone/>
            </a:pPr>
            <a:r>
              <a:rPr lang="en-US" sz="1000" b="1" spc="300" kern="0" dirty="0">
                <a:solidFill>
                  <a:srgbClr val="7FBA00"/>
                </a:solidFill>
                <a:latin typeface="JetBrains Mono" pitchFamily="34" charset="0"/>
                <a:ea typeface="JetBrains Mono" pitchFamily="34" charset="-122"/>
                <a:cs typeface="JetBrains Mono" pitchFamily="34" charset="-120"/>
              </a:rPr>
              <a:t>Dias 61 a 90, escala</a:t>
            </a:r>
            <a:endParaRPr lang="en-US" sz="1000" dirty="0"/>
          </a:p>
        </p:txBody>
      </p:sp>
      <p:sp>
        <p:nvSpPr>
          <p:cNvPr id="20" name="Text 18"/>
          <p:cNvSpPr/>
          <p:nvPr/>
        </p:nvSpPr>
        <p:spPr>
          <a:xfrm>
            <a:off x="3108960" y="5669280"/>
            <a:ext cx="7132320" cy="685800"/>
          </a:xfrm>
          <a:prstGeom prst="rect">
            <a:avLst/>
          </a:prstGeom>
          <a:noFill/>
          <a:ln/>
        </p:spPr>
        <p:txBody>
          <a:bodyPr wrap="square" lIns="0" tIns="0" rIns="0" bIns="0" rtlCol="0" anchor="t"/>
          <a:lstStyle/>
          <a:p>
            <a:pPr indent="0" marL="0">
              <a:buNone/>
            </a:pPr>
            <a:r>
              <a:rPr lang="en-US" sz="1300" dirty="0">
                <a:solidFill>
                  <a:srgbClr val="1A1A19"/>
                </a:solidFill>
                <a:latin typeface="Inter" pitchFamily="34" charset="0"/>
                <a:ea typeface="Inter" pitchFamily="34" charset="-122"/>
                <a:cs typeface="Inter" pitchFamily="34" charset="-120"/>
              </a:rPr>
              <a:t>Expanda do squad piloto para a organização. Publique o playbook interno. Conecte ao Azure AI Foundry onde a governança demanda. Trave a política de regime estável.</a:t>
            </a:r>
            <a:endParaRPr lang="en-US" sz="1300" dirty="0"/>
          </a:p>
        </p:txBody>
      </p:sp>
      <p:sp>
        <p:nvSpPr>
          <p:cNvPr id="21" name="Text 19"/>
          <p:cNvSpPr/>
          <p:nvPr/>
        </p:nvSpPr>
        <p:spPr>
          <a:xfrm>
            <a:off x="10424160" y="5669280"/>
            <a:ext cx="1371600" cy="365760"/>
          </a:xfrm>
          <a:prstGeom prst="rect">
            <a:avLst/>
          </a:prstGeom>
          <a:noFill/>
          <a:ln/>
        </p:spPr>
        <p:txBody>
          <a:bodyPr wrap="square" lIns="0" tIns="0" rIns="0" bIns="0" rtlCol="0" anchor="t"/>
          <a:lstStyle/>
          <a:p>
            <a:pPr algn="r" indent="0" marL="0">
              <a:buNone/>
            </a:pPr>
            <a:r>
              <a:rPr lang="en-US" sz="1000" dirty="0">
                <a:solidFill>
                  <a:srgbClr val="82807A"/>
                </a:solidFill>
                <a:latin typeface="JetBrains Mono" pitchFamily="34" charset="0"/>
                <a:ea typeface="JetBrains Mono" pitchFamily="34" charset="-122"/>
                <a:cs typeface="JetBrains Mono" pitchFamily="34" charset="-120"/>
              </a:rPr>
              <a:t>30 dias</a:t>
            </a:r>
            <a:endParaRPr lang="en-US" sz="1000" dirty="0"/>
          </a:p>
        </p:txBody>
      </p:sp>
      <p:sp>
        <p:nvSpPr>
          <p:cNvPr id="22" name="Text 20"/>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0F0E"/>
        </a:solidFill>
      </p:bgPr>
    </p:bg>
    <p:spTree>
      <p:nvGrpSpPr>
        <p:cNvPr id="1" name=""/>
        <p:cNvGrpSpPr/>
        <p:nvPr/>
      </p:nvGrpSpPr>
      <p:grpSpPr>
        <a:xfrm>
          <a:off x="0" y="0"/>
          <a:ext cx="0" cy="0"/>
          <a:chOff x="0" y="0"/>
          <a:chExt cx="0" cy="0"/>
        </a:xfrm>
      </p:grpSpPr>
      <p:sp>
        <p:nvSpPr>
          <p:cNvPr id="2" name="Shape 0"/>
          <p:cNvSpPr/>
          <p:nvPr/>
        </p:nvSpPr>
        <p:spPr>
          <a:xfrm>
            <a:off x="457200" y="292608"/>
            <a:ext cx="118872" cy="118872"/>
          </a:xfrm>
          <a:prstGeom prst="rect">
            <a:avLst/>
          </a:prstGeom>
          <a:solidFill>
            <a:srgbClr val="F25022"/>
          </a:solidFill>
          <a:ln/>
        </p:spPr>
      </p:sp>
      <p:sp>
        <p:nvSpPr>
          <p:cNvPr id="3" name="Shape 1"/>
          <p:cNvSpPr/>
          <p:nvPr/>
        </p:nvSpPr>
        <p:spPr>
          <a:xfrm>
            <a:off x="594360" y="292608"/>
            <a:ext cx="118872" cy="118872"/>
          </a:xfrm>
          <a:prstGeom prst="rect">
            <a:avLst/>
          </a:prstGeom>
          <a:solidFill>
            <a:srgbClr val="7FBA00"/>
          </a:solidFill>
          <a:ln/>
        </p:spPr>
      </p:sp>
      <p:sp>
        <p:nvSpPr>
          <p:cNvPr id="4" name="Shape 2"/>
          <p:cNvSpPr/>
          <p:nvPr/>
        </p:nvSpPr>
        <p:spPr>
          <a:xfrm>
            <a:off x="457200" y="429768"/>
            <a:ext cx="118872" cy="118872"/>
          </a:xfrm>
          <a:prstGeom prst="rect">
            <a:avLst/>
          </a:prstGeom>
          <a:solidFill>
            <a:srgbClr val="00A4EF"/>
          </a:solidFill>
          <a:ln/>
        </p:spPr>
      </p:sp>
      <p:sp>
        <p:nvSpPr>
          <p:cNvPr id="5" name="Shape 3"/>
          <p:cNvSpPr/>
          <p:nvPr/>
        </p:nvSpPr>
        <p:spPr>
          <a:xfrm>
            <a:off x="594360" y="429768"/>
            <a:ext cx="118872" cy="118872"/>
          </a:xfrm>
          <a:prstGeom prst="rect">
            <a:avLst/>
          </a:prstGeom>
          <a:solidFill>
            <a:srgbClr val="FFB900"/>
          </a:solidFill>
          <a:ln/>
        </p:spPr>
      </p:sp>
      <p:sp>
        <p:nvSpPr>
          <p:cNvPr id="6" name="Text 4"/>
          <p:cNvSpPr/>
          <p:nvPr/>
        </p:nvSpPr>
        <p:spPr>
          <a:xfrm>
            <a:off x="822960" y="292608"/>
            <a:ext cx="5486400" cy="274320"/>
          </a:xfrm>
          <a:prstGeom prst="rect">
            <a:avLst/>
          </a:prstGeom>
          <a:noFill/>
          <a:ln/>
        </p:spPr>
        <p:txBody>
          <a:bodyPr wrap="square" rtlCol="0" anchor="ctr"/>
          <a:lstStyle/>
          <a:p>
            <a:pPr indent="0" marL="0">
              <a:buNone/>
            </a:pPr>
            <a:r>
              <a:rPr lang="en-US" sz="900" spc="200" kern="0" dirty="0">
                <a:solidFill>
                  <a:srgbClr val="B8B6AE"/>
                </a:solidFill>
                <a:latin typeface="JetBrains Mono" pitchFamily="34" charset="0"/>
                <a:ea typeface="JetBrains Mono" pitchFamily="34" charset="-122"/>
                <a:cs typeface="JetBrains Mono" pitchFamily="34" charset="-120"/>
              </a:rPr>
              <a:t>PAULA SILVA  |  SOFTWARE GLOBAL BLACK BELT</a:t>
            </a:r>
            <a:endParaRPr lang="en-US" sz="900" dirty="0"/>
          </a:p>
        </p:txBody>
      </p:sp>
      <p:sp>
        <p:nvSpPr>
          <p:cNvPr id="7" name="Shape 5"/>
          <p:cNvSpPr/>
          <p:nvPr/>
        </p:nvSpPr>
        <p:spPr>
          <a:xfrm>
            <a:off x="0" y="0"/>
            <a:ext cx="12191695" cy="54864"/>
          </a:xfrm>
          <a:prstGeom prst="rect">
            <a:avLst/>
          </a:prstGeom>
          <a:solidFill>
            <a:srgbClr val="00A4EF"/>
          </a:solidFill>
          <a:ln/>
        </p:spPr>
      </p:sp>
      <p:sp>
        <p:nvSpPr>
          <p:cNvPr id="8" name="Text 6"/>
          <p:cNvSpPr/>
          <p:nvPr/>
        </p:nvSpPr>
        <p:spPr>
          <a:xfrm>
            <a:off x="457200" y="1280160"/>
            <a:ext cx="10972800" cy="274320"/>
          </a:xfrm>
          <a:prstGeom prst="rect">
            <a:avLst/>
          </a:prstGeom>
          <a:noFill/>
          <a:ln/>
        </p:spPr>
        <p:txBody>
          <a:bodyPr wrap="square" lIns="0" tIns="0" rIns="0" bIns="0" rtlCol="0" anchor="ctr"/>
          <a:lstStyle/>
          <a:p>
            <a:pPr indent="0" marL="0">
              <a:buNone/>
            </a:pPr>
            <a:r>
              <a:rPr lang="en-US" sz="1000" b="1" spc="400" kern="0" dirty="0">
                <a:solidFill>
                  <a:srgbClr val="00A4EF"/>
                </a:solidFill>
                <a:latin typeface="JetBrains Mono" pitchFamily="34" charset="0"/>
                <a:ea typeface="JetBrains Mono" pitchFamily="34" charset="-122"/>
                <a:cs typeface="JetBrains Mono" pitchFamily="34" charset="-120"/>
              </a:rPr>
              <a:t>ENCERRAMENTO</a:t>
            </a:r>
            <a:endParaRPr lang="en-US" sz="1000" dirty="0"/>
          </a:p>
        </p:txBody>
      </p:sp>
      <p:sp>
        <p:nvSpPr>
          <p:cNvPr id="9" name="Text 7"/>
          <p:cNvSpPr/>
          <p:nvPr/>
        </p:nvSpPr>
        <p:spPr>
          <a:xfrm>
            <a:off x="457200" y="1828800"/>
            <a:ext cx="7772400" cy="2286000"/>
          </a:xfrm>
          <a:prstGeom prst="rect">
            <a:avLst/>
          </a:prstGeom>
          <a:noFill/>
          <a:ln/>
        </p:spPr>
        <p:txBody>
          <a:bodyPr wrap="square" lIns="0" tIns="0" rIns="0" bIns="0" rtlCol="0" anchor="t"/>
          <a:lstStyle/>
          <a:p>
            <a:pPr indent="0" marL="0">
              <a:buNone/>
            </a:pPr>
            <a:r>
              <a:rPr lang="en-US" sz="5200" dirty="0">
                <a:solidFill>
                  <a:srgbClr val="F0F0EB"/>
                </a:solidFill>
                <a:latin typeface="Inter" pitchFamily="34" charset="0"/>
                <a:ea typeface="Inter" pitchFamily="34" charset="-122"/>
                <a:cs typeface="Inter" pitchFamily="34" charset="-120"/>
              </a:rPr>
              <a:t>Tokens recompensam disciplina de engenharia.</a:t>
            </a:r>
            <a:endParaRPr lang="en-US" sz="5200" dirty="0"/>
          </a:p>
        </p:txBody>
      </p:sp>
      <p:sp>
        <p:nvSpPr>
          <p:cNvPr id="10" name="Text 8"/>
          <p:cNvSpPr/>
          <p:nvPr/>
        </p:nvSpPr>
        <p:spPr>
          <a:xfrm>
            <a:off x="457200" y="4206240"/>
            <a:ext cx="7772400" cy="548640"/>
          </a:xfrm>
          <a:prstGeom prst="rect">
            <a:avLst/>
          </a:prstGeom>
          <a:noFill/>
          <a:ln/>
        </p:spPr>
        <p:txBody>
          <a:bodyPr wrap="square" lIns="0" tIns="0" rIns="0" bIns="0" rtlCol="0" anchor="t"/>
          <a:lstStyle/>
          <a:p>
            <a:pPr indent="0" marL="0">
              <a:buNone/>
            </a:pPr>
            <a:r>
              <a:rPr lang="en-US" sz="1600" i="1" dirty="0">
                <a:solidFill>
                  <a:srgbClr val="B8B6AE"/>
                </a:solidFill>
                <a:latin typeface="Inter" pitchFamily="34" charset="0"/>
                <a:ea typeface="Inter" pitchFamily="34" charset="-122"/>
                <a:cs typeface="Inter" pitchFamily="34" charset="-120"/>
              </a:rPr>
              <a:t>Building the future of software development with AI and Agentic DevOps.</a:t>
            </a:r>
            <a:endParaRPr lang="en-US" sz="1600" dirty="0"/>
          </a:p>
        </p:txBody>
      </p:sp>
      <p:sp>
        <p:nvSpPr>
          <p:cNvPr id="11" name="Text 9"/>
          <p:cNvSpPr/>
          <p:nvPr/>
        </p:nvSpPr>
        <p:spPr>
          <a:xfrm>
            <a:off x="457200" y="5120640"/>
            <a:ext cx="3657600" cy="1463040"/>
          </a:xfrm>
          <a:prstGeom prst="rect">
            <a:avLst/>
          </a:prstGeom>
          <a:noFill/>
          <a:ln/>
        </p:spPr>
        <p:txBody>
          <a:bodyPr wrap="square" lIns="0" tIns="0" rIns="0" bIns="0" rtlCol="0" anchor="t"/>
          <a:lstStyle/>
          <a:p>
            <a:pPr indent="0" marL="0">
              <a:buNone/>
            </a:pPr>
            <a:r>
              <a:rPr lang="en-US" sz="900" b="1" spc="300" kern="0" dirty="0">
                <a:solidFill>
                  <a:srgbClr val="82807A"/>
                </a:solidFill>
                <a:latin typeface="Inter" pitchFamily="34" charset="0"/>
                <a:ea typeface="Inter" pitchFamily="34" charset="-122"/>
                <a:cs typeface="Inter" pitchFamily="34" charset="-120"/>
              </a:rPr>
              <a:t>CONTATO
</a:t>
            </a:r>
            <a:pPr indent="0" marL="0">
              <a:buNone/>
            </a:pPr>
            <a:r>
              <a:rPr lang="en-US" sz="1600" b="1" dirty="0">
                <a:solidFill>
                  <a:srgbClr val="F0F0EB"/>
                </a:solidFill>
                <a:latin typeface="Inter" pitchFamily="34" charset="0"/>
                <a:ea typeface="Inter" pitchFamily="34" charset="-122"/>
                <a:cs typeface="Inter" pitchFamily="34" charset="-120"/>
              </a:rPr>
              <a:t>Paula Silva
</a:t>
            </a:r>
            <a:pPr indent="0" marL="0">
              <a:buNone/>
            </a:pPr>
            <a:r>
              <a:rPr lang="en-US" sz="1200" dirty="0">
                <a:solidFill>
                  <a:srgbClr val="B8B6AE"/>
                </a:solidFill>
                <a:latin typeface="Inter" pitchFamily="34" charset="0"/>
                <a:ea typeface="Inter" pitchFamily="34" charset="-122"/>
                <a:cs typeface="Inter" pitchFamily="34" charset="-120"/>
              </a:rPr>
              <a:t>Software Global Black Belt
</a:t>
            </a:r>
            <a:pPr indent="0" marL="0">
              <a:buNone/>
            </a:pPr>
            <a:r>
              <a:rPr lang="en-US" sz="1200" dirty="0">
                <a:solidFill>
                  <a:srgbClr val="00A4EF"/>
                </a:solidFill>
                <a:latin typeface="Inter" pitchFamily="34" charset="0"/>
                <a:ea typeface="Inter" pitchFamily="34" charset="-122"/>
                <a:cs typeface="Inter" pitchFamily="34" charset="-120"/>
              </a:rPr>
              <a:t>paulasilva@microsoft.com</a:t>
            </a:r>
            <a:endParaRPr lang="en-US" sz="900" dirty="0"/>
          </a:p>
        </p:txBody>
      </p:sp>
      <p:sp>
        <p:nvSpPr>
          <p:cNvPr id="12" name="Text 10"/>
          <p:cNvSpPr/>
          <p:nvPr/>
        </p:nvSpPr>
        <p:spPr>
          <a:xfrm>
            <a:off x="4297680" y="5120640"/>
            <a:ext cx="3657600" cy="1463040"/>
          </a:xfrm>
          <a:prstGeom prst="rect">
            <a:avLst/>
          </a:prstGeom>
          <a:noFill/>
          <a:ln/>
        </p:spPr>
        <p:txBody>
          <a:bodyPr wrap="square" lIns="0" tIns="0" rIns="0" bIns="0" rtlCol="0" anchor="t"/>
          <a:lstStyle/>
          <a:p>
            <a:pPr indent="0" marL="0">
              <a:buNone/>
            </a:pPr>
            <a:r>
              <a:rPr lang="en-US" sz="900" b="1" spc="300" kern="0" dirty="0">
                <a:solidFill>
                  <a:srgbClr val="82807A"/>
                </a:solidFill>
                <a:latin typeface="Inter" pitchFamily="34" charset="0"/>
                <a:ea typeface="Inter" pitchFamily="34" charset="-122"/>
                <a:cs typeface="Inter" pitchFamily="34" charset="-120"/>
              </a:rPr>
              <a:t>PRÓXIMO PASSO
</a:t>
            </a:r>
            <a:pPr indent="0" marL="0">
              <a:buNone/>
            </a:pPr>
            <a:r>
              <a:rPr lang="en-US" sz="1600" b="1" dirty="0">
                <a:solidFill>
                  <a:srgbClr val="F0F0EB"/>
                </a:solidFill>
                <a:latin typeface="Inter" pitchFamily="34" charset="0"/>
                <a:ea typeface="Inter" pitchFamily="34" charset="-122"/>
                <a:cs typeface="Inter" pitchFamily="34" charset="-120"/>
              </a:rPr>
              <a:t>Diagnóstico de 90 dias
</a:t>
            </a:r>
            <a:pPr indent="0" marL="0">
              <a:buNone/>
            </a:pPr>
            <a:r>
              <a:rPr lang="en-US" sz="1200" dirty="0">
                <a:solidFill>
                  <a:srgbClr val="B8B6AE"/>
                </a:solidFill>
                <a:latin typeface="Inter" pitchFamily="34" charset="0"/>
                <a:ea typeface="Inter" pitchFamily="34" charset="-122"/>
                <a:cs typeface="Inter" pitchFamily="34" charset="-120"/>
              </a:rPr>
              <a:t>Grátis para clientes enterprise
</a:t>
            </a:r>
            <a:pPr indent="0" marL="0">
              <a:buNone/>
            </a:pPr>
            <a:r>
              <a:rPr lang="en-US" sz="1100" dirty="0">
                <a:solidFill>
                  <a:srgbClr val="82807A"/>
                </a:solidFill>
                <a:latin typeface="Inter" pitchFamily="34" charset="0"/>
                <a:ea typeface="Inter" pitchFamily="34" charset="-122"/>
                <a:cs typeface="Inter" pitchFamily="34" charset="-120"/>
              </a:rPr>
              <a:t>Publicado 2026-05-28</a:t>
            </a:r>
            <a:endParaRPr lang="en-US" sz="900" dirty="0"/>
          </a:p>
        </p:txBody>
      </p:sp>
      <p:sp>
        <p:nvSpPr>
          <p:cNvPr id="13" name="Shape 11"/>
          <p:cNvSpPr/>
          <p:nvPr/>
        </p:nvSpPr>
        <p:spPr>
          <a:xfrm>
            <a:off x="8229600" y="1645920"/>
            <a:ext cx="3657600" cy="4114800"/>
          </a:xfrm>
          <a:prstGeom prst="roundRect">
            <a:avLst>
              <a:gd name="adj" fmla="val 1250"/>
            </a:avLst>
          </a:prstGeom>
          <a:solidFill>
            <a:srgbClr val="1A1A1A"/>
          </a:solidFill>
          <a:ln w="6350">
            <a:solidFill>
              <a:srgbClr val="2A2A2A"/>
            </a:solidFill>
            <a:prstDash val="solid"/>
          </a:ln>
        </p:spPr>
      </p:sp>
      <p:sp>
        <p:nvSpPr>
          <p:cNvPr id="14" name="Text 12"/>
          <p:cNvSpPr/>
          <p:nvPr/>
        </p:nvSpPr>
        <p:spPr>
          <a:xfrm>
            <a:off x="8412480" y="1783080"/>
            <a:ext cx="3291840" cy="274320"/>
          </a:xfrm>
          <a:prstGeom prst="rect">
            <a:avLst/>
          </a:prstGeom>
          <a:noFill/>
          <a:ln/>
        </p:spPr>
        <p:txBody>
          <a:bodyPr wrap="square" lIns="0" tIns="0" rIns="0" bIns="0" rtlCol="0" anchor="t"/>
          <a:lstStyle/>
          <a:p>
            <a:pPr indent="0" marL="0">
              <a:buNone/>
            </a:pPr>
            <a:r>
              <a:rPr lang="en-US" sz="900" spc="200" kern="0" dirty="0">
                <a:solidFill>
                  <a:srgbClr val="82807A"/>
                </a:solidFill>
                <a:latin typeface="JetBrains Mono" pitchFamily="34" charset="0"/>
                <a:ea typeface="JetBrains Mono" pitchFamily="34" charset="-122"/>
                <a:cs typeface="JetBrains Mono" pitchFamily="34" charset="-120"/>
              </a:rPr>
              <a:t>.github/copilot-instructions.md</a:t>
            </a:r>
            <a:endParaRPr lang="en-US" sz="900" dirty="0"/>
          </a:p>
        </p:txBody>
      </p:sp>
      <p:sp>
        <p:nvSpPr>
          <p:cNvPr id="15" name="Text 13"/>
          <p:cNvSpPr/>
          <p:nvPr/>
        </p:nvSpPr>
        <p:spPr>
          <a:xfrm>
            <a:off x="8412480" y="2148840"/>
            <a:ext cx="3291840" cy="3474720"/>
          </a:xfrm>
          <a:prstGeom prst="rect">
            <a:avLst/>
          </a:prstGeom>
          <a:noFill/>
          <a:ln/>
        </p:spPr>
        <p:txBody>
          <a:bodyPr wrap="square" lIns="0" tIns="0" rIns="0" bIns="0" rtlCol="0" anchor="t"/>
          <a:lstStyle/>
          <a:p>
            <a:pPr indent="0" marL="0">
              <a:buNone/>
            </a:pPr>
            <a:r>
              <a:rPr lang="en-US" sz="900" i="1" dirty="0">
                <a:solidFill>
                  <a:srgbClr val="7FBA00"/>
                </a:solidFill>
                <a:latin typeface="JetBrains Mono" pitchFamily="34" charset="0"/>
                <a:ea typeface="JetBrains Mono" pitchFamily="34" charset="-122"/>
                <a:cs typeface="JetBrains Mono" pitchFamily="34" charset="-120"/>
              </a:rPr>
              <a:t># Model policy
</a:t>
            </a:r>
            <a:pPr indent="0" marL="0">
              <a:buNone/>
            </a:pPr>
            <a:r>
              <a:rPr lang="en-US" sz="900" dirty="0">
                <a:solidFill>
                  <a:srgbClr val="F0F0EB"/>
                </a:solidFill>
                <a:latin typeface="JetBrains Mono" pitchFamily="34" charset="0"/>
                <a:ea typeface="JetBrains Mono" pitchFamily="34" charset="-122"/>
                <a:cs typeface="JetBrains Mono" pitchFamily="34" charset="-120"/>
              </a:rPr>
              <a:t>Default model: GPT-5 mini (included)
</a:t>
            </a:r>
            <a:pPr indent="0" marL="0">
              <a:buNone/>
            </a:pPr>
            <a:r>
              <a:rPr lang="en-US" sz="900" dirty="0">
                <a:solidFill>
                  <a:srgbClr val="F0F0EB"/>
                </a:solidFill>
                <a:latin typeface="JetBrains Mono" pitchFamily="34" charset="0"/>
                <a:ea typeface="JetBrains Mono" pitchFamily="34" charset="-122"/>
                <a:cs typeface="JetBrains Mono" pitchFamily="34" charset="-120"/>
              </a:rPr>
              <a:t>Premium models: only for hard tasks
</a:t>
            </a:r>
            <a:pPr indent="0" marL="0">
              <a:buNone/>
            </a:pPr>
            <a:r>
              <a:rPr lang="en-US" sz="900" i="1" dirty="0">
                <a:solidFill>
                  <a:srgbClr val="7FBA00"/>
                </a:solidFill>
                <a:latin typeface="JetBrains Mono" pitchFamily="34" charset="0"/>
                <a:ea typeface="JetBrains Mono" pitchFamily="34" charset="-122"/>
                <a:cs typeface="JetBrains Mono" pitchFamily="34" charset="-120"/>
              </a:rPr>
              <a:t># Context discipline
</a:t>
            </a:r>
            <a:pPr indent="0" marL="0">
              <a:buNone/>
            </a:pPr>
            <a:r>
              <a:rPr lang="en-US" sz="900" dirty="0">
                <a:solidFill>
                  <a:srgbClr val="F0F0EB"/>
                </a:solidFill>
                <a:latin typeface="JetBrains Mono" pitchFamily="34" charset="0"/>
                <a:ea typeface="JetBrains Mono" pitchFamily="34" charset="-122"/>
                <a:cs typeface="JetBrains Mono" pitchFamily="34" charset="-120"/>
              </a:rPr>
              <a:t>Reference files with #file:path explicitly
</a:t>
            </a:r>
            <a:pPr indent="0" marL="0">
              <a:buNone/>
            </a:pPr>
            <a:r>
              <a:rPr lang="en-US" sz="900" dirty="0">
                <a:solidFill>
                  <a:srgbClr val="F0F0EB"/>
                </a:solidFill>
                <a:latin typeface="JetBrains Mono" pitchFamily="34" charset="0"/>
                <a:ea typeface="JetBrains Mono" pitchFamily="34" charset="-122"/>
                <a:cs typeface="JetBrains Mono" pitchFamily="34" charset="-120"/>
              </a:rPr>
              <a:t>Use @workspace only when search-wide is needed
</a:t>
            </a:r>
            <a:pPr indent="0" marL="0">
              <a:buNone/>
            </a:pPr>
            <a:r>
              <a:rPr lang="en-US" sz="900" i="1" dirty="0">
                <a:solidFill>
                  <a:srgbClr val="7FBA00"/>
                </a:solidFill>
                <a:latin typeface="JetBrains Mono" pitchFamily="34" charset="0"/>
                <a:ea typeface="JetBrains Mono" pitchFamily="34" charset="-122"/>
                <a:cs typeface="JetBrains Mono" pitchFamily="34" charset="-120"/>
              </a:rPr>
              <a:t># Caching
</a:t>
            </a:r>
            <a:pPr indent="0" marL="0">
              <a:buNone/>
            </a:pPr>
            <a:r>
              <a:rPr lang="en-US" sz="900" dirty="0">
                <a:solidFill>
                  <a:srgbClr val="F0F0EB"/>
                </a:solidFill>
                <a:latin typeface="JetBrains Mono" pitchFamily="34" charset="0"/>
                <a:ea typeface="JetBrains Mono" pitchFamily="34" charset="-122"/>
                <a:cs typeface="JetBrains Mono" pitchFamily="34" charset="-120"/>
              </a:rPr>
              <a:t>System prompts cached after first turn
</a:t>
            </a:r>
            <a:pPr indent="0" marL="0">
              <a:buNone/>
            </a:pPr>
            <a:r>
              <a:rPr lang="en-US" sz="900" dirty="0">
                <a:solidFill>
                  <a:srgbClr val="F0F0EB"/>
                </a:solidFill>
                <a:latin typeface="JetBrains Mono" pitchFamily="34" charset="0"/>
                <a:ea typeface="JetBrains Mono" pitchFamily="34" charset="-122"/>
                <a:cs typeface="JetBrains Mono" pitchFamily="34" charset="-120"/>
              </a:rPr>
              <a:t>Long reference docs always cached</a:t>
            </a:r>
            <a:endParaRPr lang="en-US" sz="900" dirty="0"/>
          </a:p>
        </p:txBody>
      </p:sp>
      <p:sp>
        <p:nvSpPr>
          <p:cNvPr id="16" name="Shape 14"/>
          <p:cNvSpPr/>
          <p:nvPr/>
        </p:nvSpPr>
        <p:spPr>
          <a:xfrm>
            <a:off x="457200" y="6400800"/>
            <a:ext cx="548640" cy="45720"/>
          </a:xfrm>
          <a:prstGeom prst="rect">
            <a:avLst/>
          </a:prstGeom>
          <a:solidFill>
            <a:srgbClr val="F25022"/>
          </a:solidFill>
          <a:ln/>
        </p:spPr>
      </p:sp>
      <p:sp>
        <p:nvSpPr>
          <p:cNvPr id="17" name="Shape 15"/>
          <p:cNvSpPr/>
          <p:nvPr/>
        </p:nvSpPr>
        <p:spPr>
          <a:xfrm>
            <a:off x="1005840" y="6400800"/>
            <a:ext cx="548640" cy="45720"/>
          </a:xfrm>
          <a:prstGeom prst="rect">
            <a:avLst/>
          </a:prstGeom>
          <a:solidFill>
            <a:srgbClr val="7FBA00"/>
          </a:solidFill>
          <a:ln/>
        </p:spPr>
      </p:sp>
      <p:sp>
        <p:nvSpPr>
          <p:cNvPr id="18" name="Shape 16"/>
          <p:cNvSpPr/>
          <p:nvPr/>
        </p:nvSpPr>
        <p:spPr>
          <a:xfrm>
            <a:off x="1554480" y="6400800"/>
            <a:ext cx="548640" cy="45720"/>
          </a:xfrm>
          <a:prstGeom prst="rect">
            <a:avLst/>
          </a:prstGeom>
          <a:solidFill>
            <a:srgbClr val="FFB900"/>
          </a:solidFill>
          <a:ln/>
        </p:spPr>
      </p:sp>
      <p:sp>
        <p:nvSpPr>
          <p:cNvPr id="19" name="Shape 17"/>
          <p:cNvSpPr/>
          <p:nvPr/>
        </p:nvSpPr>
        <p:spPr>
          <a:xfrm>
            <a:off x="2103120" y="6400800"/>
            <a:ext cx="548640" cy="45720"/>
          </a:xfrm>
          <a:prstGeom prst="rect">
            <a:avLst/>
          </a:prstGeom>
          <a:solidFill>
            <a:srgbClr val="00A4EF"/>
          </a:solidFill>
          <a:ln/>
        </p:spPr>
      </p:sp>
      <p:sp>
        <p:nvSpPr>
          <p:cNvPr id="20" name="Text 18"/>
          <p:cNvSpPr/>
          <p:nvPr/>
        </p:nvSpPr>
        <p:spPr>
          <a:xfrm>
            <a:off x="10972800" y="6492240"/>
            <a:ext cx="914400" cy="274320"/>
          </a:xfrm>
          <a:prstGeom prst="rect">
            <a:avLst/>
          </a:prstGeom>
          <a:noFill/>
          <a:ln/>
        </p:spPr>
        <p:txBody>
          <a:bodyPr wrap="square" rtlCol="0" anchor="ctr"/>
          <a:lstStyle/>
          <a:p>
            <a:pPr algn="r" indent="0" marL="0">
              <a:buNone/>
            </a:pPr>
            <a:r>
              <a:rPr lang="en-US" sz="900" spc="200" kern="0" dirty="0">
                <a:solidFill>
                  <a:srgbClr val="82807A"/>
                </a:solidFill>
                <a:latin typeface="JetBrains Mono" pitchFamily="34" charset="0"/>
                <a:ea typeface="JetBrains Mono" pitchFamily="34" charset="-122"/>
                <a:cs typeface="JetBrains Mono"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Gestão de tokens e design de agentes</dc:title>
  <dc:subject>PptxGenJS Presentation</dc:subject>
  <dc:creator>Paula Silva</dc:creator>
  <cp:lastModifiedBy>Paula Silva</cp:lastModifiedBy>
  <cp:revision>1</cp:revision>
  <dcterms:created xsi:type="dcterms:W3CDTF">2026-05-28T16:31:32Z</dcterms:created>
  <dcterms:modified xsi:type="dcterms:W3CDTF">2026-05-28T16:31:32Z</dcterms:modified>
</cp:coreProperties>
</file>